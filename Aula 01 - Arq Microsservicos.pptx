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86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261" r:id="rId32"/>
    <p:sldId id="262" r:id="rId33"/>
    <p:sldId id="263" r:id="rId34"/>
    <p:sldId id="264" r:id="rId35"/>
    <p:sldId id="287" r:id="rId36"/>
    <p:sldId id="288" r:id="rId37"/>
    <p:sldId id="289" r:id="rId38"/>
    <p:sldId id="290" r:id="rId39"/>
    <p:sldId id="291" r:id="rId40"/>
    <p:sldId id="293" r:id="rId41"/>
    <p:sldId id="292" r:id="rId42"/>
    <p:sldId id="294" r:id="rId43"/>
    <p:sldId id="295" r:id="rId44"/>
    <p:sldId id="296" r:id="rId45"/>
    <p:sldId id="298" r:id="rId46"/>
    <p:sldId id="299" r:id="rId47"/>
    <p:sldId id="297" r:id="rId48"/>
    <p:sldId id="267" r:id="rId49"/>
  </p:sldIdLst>
  <p:sldSz cx="18288000" cy="10287000"/>
  <p:notesSz cx="18288000" cy="10287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gLUvLEHBaXbmizNcw7fHqGoRWm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98D115-0EA8-40FB-8D74-A8F8687DD90F}">
  <a:tblStyle styleId="{2A98D115-0EA8-40FB-8D74-A8F8687DD9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EF3"/>
          </a:solidFill>
        </a:fill>
      </a:tcStyle>
    </a:wholeTbl>
    <a:band1H>
      <a:tcTxStyle/>
      <a:tcStyle>
        <a:tcBdr/>
        <a:fill>
          <a:solidFill>
            <a:srgbClr val="CCDCE6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DCE6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B871F78-92CF-466F-ACD7-390A40D1492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4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7924800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0358438" y="0"/>
            <a:ext cx="7924800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2:notes"/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e54961165_0_0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39e549611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4827710D-0AA6-999E-537E-ACAD1030D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D520360C-67E4-7176-A5F7-DFAA20B55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9F804D10-1A02-C436-2F83-143DF24043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4760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486645AD-D9F2-0D5E-38B3-8438456C9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775CDF38-DCA6-C939-FAA6-DDF0F4423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23DDA6B9-5B55-53D1-0145-46A2005962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12900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61BB1AF8-2CEF-5A5C-AFE4-9AC7F748C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36C1280B-D2A2-1F3C-4884-7ED4C36C42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A39287C0-529E-C541-4679-53E443F2E5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5594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4D2DF078-D8A5-E1DD-7AF5-262C9F5EF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4BFC6F0B-18C3-B95A-3D7D-429622F46C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F3E1A4C5-33F1-967C-061E-9B640A8F68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7520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46B9D65A-F7E9-37C7-1A43-F0F2B3969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B2625053-314C-1EF7-49A3-8CE6E99E33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128DB12E-778A-FBBA-C031-F09F94FB13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4698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6D749198-6F6D-90D2-7068-BD5629E83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BD9AA3A0-742D-55C5-839B-4899C18538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50C7A611-18AB-D22A-BA43-2BA0F80DE3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0756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EC87EEA3-48F2-4A8B-98B3-EDAF82F47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7DB817B4-D649-88BB-B917-AFA5BF4E64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A07FE51F-DE89-DB70-5CC4-C0DFC5BE49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413159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3715A7E6-7C87-70FA-24BF-B8D92542E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8296833A-E7D9-33C0-8103-57BCCA2896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701FE246-8F25-1C0B-998B-021FBC4C96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22837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C48D6964-1065-00A4-D39D-16A668B7A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ACF63C27-434D-CF55-29C0-8A91E02ABC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E081AF23-6C4B-55A7-2465-1D2DBBFE7A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75327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9E2788BD-0A29-A0DA-5C43-00C7A679A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28BDA4B4-D92C-EF7B-703F-6565D4848B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0480C299-C5A4-07D2-1925-AA74D7CA4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5241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AF56DC4C-EA7D-41C8-2F27-51BB292F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CAFFB783-CFB1-BED5-85B6-69E026779D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2B1A2178-7522-0BB9-5AEF-80CC7DF5BB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97753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1D36B39B-4C78-A912-B75D-2DA4E8464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23A81581-D0EB-755F-92A8-0DA8F755E5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E570ACF9-8F47-6C93-6605-B380DDBD6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57063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A8C8BD1E-C2D8-864A-37ED-827D01A7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748AC939-7EF4-C41A-7F7E-E371A2F784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3E16E998-138D-20C4-EC4B-6845A37D1F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2573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2658E489-1780-476F-E6DB-BA8D4B242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CED39C4D-6B84-70AC-7AE2-74D8BA064E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DD8A99D9-7635-67D8-56A9-A920724B81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32271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94028D65-7077-5544-6C23-4FEB37FB6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14AFABD4-234A-A2CC-B9D6-123275C9B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6F92C2E3-6A4A-5B8A-7E69-0E97F8366E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03202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C0D389AB-9E53-2CA9-16D8-02FF42288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3EC344DC-624D-2FDF-498C-E600D31569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B13A564D-B556-6A9A-2922-B0C4F367BF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946389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5818F7AD-34AB-FBE9-6D48-6BA5E9FD5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F467D6AF-267D-D2C1-9A3E-3411C983FE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B1329F0D-33DD-4032-ABA9-0537B6C34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85973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6F886878-8E71-D55A-A294-C26B821E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57E9EC27-68E2-4214-DA5F-EE06738088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486793FF-1EE4-A329-8E2F-59B8C1CA7C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88134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577CF215-78EA-5212-0B6B-BDDD6877B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3E8BB9D7-0512-DDE2-BC1F-2CD02A4311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2A140626-6327-4F77-D776-88572F368B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03053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0F9AB48C-6961-F55C-F038-DE1ADC1BC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6297E4D9-DAC3-B230-4725-04FE88AC60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3BBD9E33-D4C8-754F-FB71-EB2FBA8D9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500822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24611BD0-5CD7-D5C7-647C-C5E2C65E5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8ABD6D82-FD06-8DBC-39DD-0AB3D7FB93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34D10394-DC34-B632-80B7-1441EA9982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8615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5BE44D39-6AAB-438F-05A7-500E6CED6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EBF4A5A3-8B41-0BDD-C730-ACD98F4D03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26AE9C4B-C101-A52C-0308-8C352D0176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05434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53F1CEBA-27A7-D366-8FD8-6CBE00C84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18BF0164-CE9A-0B45-218C-E2815DE36F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C78D9A7A-E1C0-7675-4E7B-356C4D6061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388780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684578BC-899F-6716-A337-27D1B9473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>
            <a:extLst>
              <a:ext uri="{FF2B5EF4-FFF2-40B4-BE49-F238E27FC236}">
                <a16:creationId xmlns:a16="http://schemas.microsoft.com/office/drawing/2014/main" id="{F695FA30-E070-90F1-B8A2-3F70554C32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>
            <a:extLst>
              <a:ext uri="{FF2B5EF4-FFF2-40B4-BE49-F238E27FC236}">
                <a16:creationId xmlns:a16="http://schemas.microsoft.com/office/drawing/2014/main" id="{283FD22E-0D2E-388A-1960-436E5534B0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502049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f1ac3b1e7_1_218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9f1ac3b1e7_1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c3f94586_0_0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9ec3f945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f1ac3b1e7_1_1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g39f1ac3b1e7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f1ac3b1e7_1_9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9f1ac3b1e7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C7F59E5-D25C-486F-5E10-82BBED334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f1ac3b1e7_1_9:notes">
            <a:extLst>
              <a:ext uri="{FF2B5EF4-FFF2-40B4-BE49-F238E27FC236}">
                <a16:creationId xmlns:a16="http://schemas.microsoft.com/office/drawing/2014/main" id="{10B14C14-E080-3753-37A1-35BF021FE2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9f1ac3b1e7_1_9:notes">
            <a:extLst>
              <a:ext uri="{FF2B5EF4-FFF2-40B4-BE49-F238E27FC236}">
                <a16:creationId xmlns:a16="http://schemas.microsoft.com/office/drawing/2014/main" id="{B4CBEE70-E183-8398-2551-F0F6914308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00303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2051C21-CC08-4E38-EF40-F901C3DD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f1ac3b1e7_1_9:notes">
            <a:extLst>
              <a:ext uri="{FF2B5EF4-FFF2-40B4-BE49-F238E27FC236}">
                <a16:creationId xmlns:a16="http://schemas.microsoft.com/office/drawing/2014/main" id="{2974D075-17F6-0278-AC0E-F63C1B5EE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9f1ac3b1e7_1_9:notes">
            <a:extLst>
              <a:ext uri="{FF2B5EF4-FFF2-40B4-BE49-F238E27FC236}">
                <a16:creationId xmlns:a16="http://schemas.microsoft.com/office/drawing/2014/main" id="{B7249132-DC0C-4814-7222-762FCCE8F3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956540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D226059-6F9E-8E67-E952-C59617040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f1ac3b1e7_1_9:notes">
            <a:extLst>
              <a:ext uri="{FF2B5EF4-FFF2-40B4-BE49-F238E27FC236}">
                <a16:creationId xmlns:a16="http://schemas.microsoft.com/office/drawing/2014/main" id="{A4359160-8FA1-D2DE-51BC-FBDB277930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9f1ac3b1e7_1_9:notes">
            <a:extLst>
              <a:ext uri="{FF2B5EF4-FFF2-40B4-BE49-F238E27FC236}">
                <a16:creationId xmlns:a16="http://schemas.microsoft.com/office/drawing/2014/main" id="{2239CF4B-73A8-A911-05F5-12CF62153A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6506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2E1F28D-BDEA-D809-3BAF-16EC1C718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f1ac3b1e7_1_9:notes">
            <a:extLst>
              <a:ext uri="{FF2B5EF4-FFF2-40B4-BE49-F238E27FC236}">
                <a16:creationId xmlns:a16="http://schemas.microsoft.com/office/drawing/2014/main" id="{819A4EA6-76C4-5E04-F953-C0F97BD3D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9f1ac3b1e7_1_9:notes">
            <a:extLst>
              <a:ext uri="{FF2B5EF4-FFF2-40B4-BE49-F238E27FC236}">
                <a16:creationId xmlns:a16="http://schemas.microsoft.com/office/drawing/2014/main" id="{C7061B58-2B06-A07D-7CB3-100D153114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13995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53A7E5B-4093-B515-5F9E-6CDB998BD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f1ac3b1e7_1_9:notes">
            <a:extLst>
              <a:ext uri="{FF2B5EF4-FFF2-40B4-BE49-F238E27FC236}">
                <a16:creationId xmlns:a16="http://schemas.microsoft.com/office/drawing/2014/main" id="{4E9F9F7C-8D20-064B-7C5B-B05339D449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9f1ac3b1e7_1_9:notes">
            <a:extLst>
              <a:ext uri="{FF2B5EF4-FFF2-40B4-BE49-F238E27FC236}">
                <a16:creationId xmlns:a16="http://schemas.microsoft.com/office/drawing/2014/main" id="{121949B9-9523-80C5-E93B-A098FC98F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037406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53A7E5B-4093-B515-5F9E-6CDB998BD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f1ac3b1e7_1_9:notes">
            <a:extLst>
              <a:ext uri="{FF2B5EF4-FFF2-40B4-BE49-F238E27FC236}">
                <a16:creationId xmlns:a16="http://schemas.microsoft.com/office/drawing/2014/main" id="{4E9F9F7C-8D20-064B-7C5B-B05339D449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9f1ac3b1e7_1_9:notes">
            <a:extLst>
              <a:ext uri="{FF2B5EF4-FFF2-40B4-BE49-F238E27FC236}">
                <a16:creationId xmlns:a16="http://schemas.microsoft.com/office/drawing/2014/main" id="{121949B9-9523-80C5-E93B-A098FC98F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559703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5CFE148-687E-022A-7FBF-11D7DBD5D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f1ac3b1e7_1_9:notes">
            <a:extLst>
              <a:ext uri="{FF2B5EF4-FFF2-40B4-BE49-F238E27FC236}">
                <a16:creationId xmlns:a16="http://schemas.microsoft.com/office/drawing/2014/main" id="{32044466-B7BF-3C1F-3E12-E7E8E73D55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9f1ac3b1e7_1_9:notes">
            <a:extLst>
              <a:ext uri="{FF2B5EF4-FFF2-40B4-BE49-F238E27FC236}">
                <a16:creationId xmlns:a16="http://schemas.microsoft.com/office/drawing/2014/main" id="{F25B89BF-3456-45A5-76A6-A0DCBF2C52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719394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4EB798E-7645-6A9C-1877-FCFC69FA0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f1ac3b1e7_1_9:notes">
            <a:extLst>
              <a:ext uri="{FF2B5EF4-FFF2-40B4-BE49-F238E27FC236}">
                <a16:creationId xmlns:a16="http://schemas.microsoft.com/office/drawing/2014/main" id="{0D28090A-BB03-1B84-4B2E-0F9E2B6206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9f1ac3b1e7_1_9:notes">
            <a:extLst>
              <a:ext uri="{FF2B5EF4-FFF2-40B4-BE49-F238E27FC236}">
                <a16:creationId xmlns:a16="http://schemas.microsoft.com/office/drawing/2014/main" id="{207166AD-E654-66AF-196B-7193896BD8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10849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4B98738-319A-1B35-9627-DCFF635E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f1ac3b1e7_1_9:notes">
            <a:extLst>
              <a:ext uri="{FF2B5EF4-FFF2-40B4-BE49-F238E27FC236}">
                <a16:creationId xmlns:a16="http://schemas.microsoft.com/office/drawing/2014/main" id="{AD646839-2BB6-8784-0723-E4B12D0978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9f1ac3b1e7_1_9:notes">
            <a:extLst>
              <a:ext uri="{FF2B5EF4-FFF2-40B4-BE49-F238E27FC236}">
                <a16:creationId xmlns:a16="http://schemas.microsoft.com/office/drawing/2014/main" id="{6C134832-DB6E-AC24-E99F-6FFFBEC1A7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2450085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5E05025-82EC-0966-9649-8131F64FB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f1ac3b1e7_1_9:notes">
            <a:extLst>
              <a:ext uri="{FF2B5EF4-FFF2-40B4-BE49-F238E27FC236}">
                <a16:creationId xmlns:a16="http://schemas.microsoft.com/office/drawing/2014/main" id="{78C6E5A2-C1B3-DA00-1AA4-B62B0E654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9f1ac3b1e7_1_9:notes">
            <a:extLst>
              <a:ext uri="{FF2B5EF4-FFF2-40B4-BE49-F238E27FC236}">
                <a16:creationId xmlns:a16="http://schemas.microsoft.com/office/drawing/2014/main" id="{490D8A31-7A61-130C-30A5-DA828FD7CC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137241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CF6722A-4D20-00AF-4915-857D4C0F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f1ac3b1e7_1_9:notes">
            <a:extLst>
              <a:ext uri="{FF2B5EF4-FFF2-40B4-BE49-F238E27FC236}">
                <a16:creationId xmlns:a16="http://schemas.microsoft.com/office/drawing/2014/main" id="{0D61B82C-A7DB-D665-2730-57F0847D9E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7" name="Google Shape;197;g39f1ac3b1e7_1_9:notes">
            <a:extLst>
              <a:ext uri="{FF2B5EF4-FFF2-40B4-BE49-F238E27FC236}">
                <a16:creationId xmlns:a16="http://schemas.microsoft.com/office/drawing/2014/main" id="{2FEEF509-BD49-3167-A53C-9E0C10CB62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04226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6575F42-13ED-4E96-E2B8-AB082F559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f1ac3b1e7_1_9:notes">
            <a:extLst>
              <a:ext uri="{FF2B5EF4-FFF2-40B4-BE49-F238E27FC236}">
                <a16:creationId xmlns:a16="http://schemas.microsoft.com/office/drawing/2014/main" id="{3378F8EC-46E4-C9A5-253B-9D6F329520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9f1ac3b1e7_1_9:notes">
            <a:extLst>
              <a:ext uri="{FF2B5EF4-FFF2-40B4-BE49-F238E27FC236}">
                <a16:creationId xmlns:a16="http://schemas.microsoft.com/office/drawing/2014/main" id="{7B336B77-6E84-BD16-E6F1-BE3AD30E5E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005033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2087FB6-D2C0-F3F2-7B4A-4B09414ED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f1ac3b1e7_1_9:notes">
            <a:extLst>
              <a:ext uri="{FF2B5EF4-FFF2-40B4-BE49-F238E27FC236}">
                <a16:creationId xmlns:a16="http://schemas.microsoft.com/office/drawing/2014/main" id="{99807D64-C5BA-FA1C-54DA-AA552ADFE3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9f1ac3b1e7_1_9:notes">
            <a:extLst>
              <a:ext uri="{FF2B5EF4-FFF2-40B4-BE49-F238E27FC236}">
                <a16:creationId xmlns:a16="http://schemas.microsoft.com/office/drawing/2014/main" id="{553823BD-DAD2-F7FB-CB8C-CDA93F351C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40296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f1ac3b1e7_1_38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g39f1ac3b1e7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2.png"/><Relationship Id="rId7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">
  <p:cSld name="1_Title Slide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6"/>
          <p:cNvSpPr/>
          <p:nvPr/>
        </p:nvSpPr>
        <p:spPr>
          <a:xfrm>
            <a:off x="-429776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6"/>
          <p:cNvGrpSpPr/>
          <p:nvPr/>
        </p:nvGrpSpPr>
        <p:grpSpPr>
          <a:xfrm>
            <a:off x="29308" y="0"/>
            <a:ext cx="2273173" cy="923851"/>
            <a:chOff x="-98298" y="-27441"/>
            <a:chExt cx="2273173" cy="923851"/>
          </a:xfrm>
        </p:grpSpPr>
        <p:pic>
          <p:nvPicPr>
            <p:cNvPr id="19" name="Google Shape;19;p3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98298" y="-13461"/>
              <a:ext cx="496880" cy="813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3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98582" y="-6943"/>
              <a:ext cx="746760" cy="9033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73479" y="0"/>
              <a:ext cx="501396" cy="855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3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99965" y="-27441"/>
              <a:ext cx="542257" cy="53268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" name="Google Shape;23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9037" y="9548816"/>
            <a:ext cx="2219324" cy="532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8836" y="3"/>
            <a:ext cx="2169163" cy="4239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954250" y="8420101"/>
            <a:ext cx="3333749" cy="186689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6"/>
          <p:cNvSpPr txBox="1">
            <a:spLocks noGrp="1"/>
          </p:cNvSpPr>
          <p:nvPr>
            <p:ph type="title"/>
          </p:nvPr>
        </p:nvSpPr>
        <p:spPr>
          <a:xfrm>
            <a:off x="1801085" y="4267351"/>
            <a:ext cx="1480506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6"/>
          <p:cNvSpPr txBox="1">
            <a:spLocks noGrp="1"/>
          </p:cNvSpPr>
          <p:nvPr>
            <p:ph type="body" idx="1"/>
          </p:nvPr>
        </p:nvSpPr>
        <p:spPr>
          <a:xfrm>
            <a:off x="3186430" y="6428364"/>
            <a:ext cx="11767820" cy="46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5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7"/>
          <p:cNvSpPr/>
          <p:nvPr/>
        </p:nvSpPr>
        <p:spPr>
          <a:xfrm>
            <a:off x="15696268" y="0"/>
            <a:ext cx="3928115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333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7"/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6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 b="1" i="0">
                <a:solidFill>
                  <a:srgbClr val="12208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1" name="Google Shape;31;p37"/>
          <p:cNvGrpSpPr/>
          <p:nvPr/>
        </p:nvGrpSpPr>
        <p:grpSpPr>
          <a:xfrm>
            <a:off x="7091" y="9639300"/>
            <a:ext cx="2273173" cy="923851"/>
            <a:chOff x="-98298" y="-27441"/>
            <a:chExt cx="2273173" cy="923851"/>
          </a:xfrm>
        </p:grpSpPr>
        <p:pic>
          <p:nvPicPr>
            <p:cNvPr id="32" name="Google Shape;32;p37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98298" y="-13461"/>
              <a:ext cx="496880" cy="813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3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98582" y="-6943"/>
              <a:ext cx="746760" cy="9033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34;p3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73479" y="0"/>
              <a:ext cx="501396" cy="855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3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99965" y="-27441"/>
              <a:ext cx="542257" cy="53268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" name="Google Shape;36;p3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163615" y="9615077"/>
            <a:ext cx="2219324" cy="53268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7"/>
          <p:cNvSpPr txBox="1">
            <a:spLocks noGrp="1"/>
          </p:cNvSpPr>
          <p:nvPr>
            <p:ph type="body" idx="1"/>
          </p:nvPr>
        </p:nvSpPr>
        <p:spPr>
          <a:xfrm>
            <a:off x="891206" y="2933700"/>
            <a:ext cx="7795594" cy="5185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50" b="1" i="0">
                <a:solidFill>
                  <a:srgbClr val="1220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7"/>
          <p:cNvSpPr txBox="1">
            <a:spLocks noGrp="1"/>
          </p:cNvSpPr>
          <p:nvPr>
            <p:ph type="body" idx="2"/>
          </p:nvPr>
        </p:nvSpPr>
        <p:spPr>
          <a:xfrm>
            <a:off x="9127366" y="2930236"/>
            <a:ext cx="8269428" cy="6175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3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696268" y="103213"/>
            <a:ext cx="1413241" cy="1610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8"/>
          <p:cNvSpPr/>
          <p:nvPr/>
        </p:nvSpPr>
        <p:spPr>
          <a:xfrm>
            <a:off x="15392400" y="0"/>
            <a:ext cx="4231983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8"/>
          <p:cNvSpPr txBox="1">
            <a:spLocks noGrp="1"/>
          </p:cNvSpPr>
          <p:nvPr>
            <p:ph type="title"/>
          </p:nvPr>
        </p:nvSpPr>
        <p:spPr>
          <a:xfrm>
            <a:off x="1143678" y="893283"/>
            <a:ext cx="1612832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 b="1" i="0">
                <a:solidFill>
                  <a:srgbClr val="12208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8"/>
          <p:cNvSpPr txBox="1">
            <a:spLocks noGrp="1"/>
          </p:cNvSpPr>
          <p:nvPr>
            <p:ph type="body" idx="1"/>
          </p:nvPr>
        </p:nvSpPr>
        <p:spPr>
          <a:xfrm>
            <a:off x="1149344" y="2933700"/>
            <a:ext cx="11767820" cy="5185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50" b="1" i="0">
                <a:solidFill>
                  <a:srgbClr val="1220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4" name="Google Shape;44;p38"/>
          <p:cNvGrpSpPr/>
          <p:nvPr/>
        </p:nvGrpSpPr>
        <p:grpSpPr>
          <a:xfrm>
            <a:off x="7091" y="9639300"/>
            <a:ext cx="2273173" cy="923851"/>
            <a:chOff x="-98298" y="-27441"/>
            <a:chExt cx="2273173" cy="923851"/>
          </a:xfrm>
        </p:grpSpPr>
        <p:pic>
          <p:nvPicPr>
            <p:cNvPr id="45" name="Google Shape;45;p3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98298" y="-13461"/>
              <a:ext cx="496880" cy="813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3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98582" y="-6943"/>
              <a:ext cx="746760" cy="9033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7;p3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73479" y="0"/>
              <a:ext cx="501396" cy="855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3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99965" y="-27441"/>
              <a:ext cx="542257" cy="53268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9" name="Google Shape;49;p3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564705" y="9515454"/>
            <a:ext cx="2219324" cy="532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3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776111" y="0"/>
            <a:ext cx="1368211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9"/>
          <p:cNvSpPr/>
          <p:nvPr/>
        </p:nvSpPr>
        <p:spPr>
          <a:xfrm>
            <a:off x="-48367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9"/>
          <p:cNvSpPr/>
          <p:nvPr/>
        </p:nvSpPr>
        <p:spPr>
          <a:xfrm>
            <a:off x="16777241" y="9994182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DFF1F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9"/>
          <p:cNvSpPr txBox="1"/>
          <p:nvPr/>
        </p:nvSpPr>
        <p:spPr>
          <a:xfrm>
            <a:off x="13394814" y="8712497"/>
            <a:ext cx="3877583" cy="259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Dezembro de 2023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829888" y="9324191"/>
            <a:ext cx="2824519" cy="652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30600" y="-32905"/>
            <a:ext cx="1644038" cy="342380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9"/>
          <p:cNvSpPr txBox="1">
            <a:spLocks noGrp="1"/>
          </p:cNvSpPr>
          <p:nvPr>
            <p:ph type="ctrTitle"/>
          </p:nvPr>
        </p:nvSpPr>
        <p:spPr>
          <a:xfrm>
            <a:off x="4147340" y="1015682"/>
            <a:ext cx="9993318" cy="2197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65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9"/>
          <p:cNvSpPr txBox="1">
            <a:spLocks noGrp="1"/>
          </p:cNvSpPr>
          <p:nvPr>
            <p:ph type="subTitle" idx="1"/>
          </p:nvPr>
        </p:nvSpPr>
        <p:spPr>
          <a:xfrm>
            <a:off x="6477000" y="7505700"/>
            <a:ext cx="5933575" cy="46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9" name="Google Shape;59;p39"/>
          <p:cNvGrpSpPr/>
          <p:nvPr/>
        </p:nvGrpSpPr>
        <p:grpSpPr>
          <a:xfrm>
            <a:off x="-446190" y="9650288"/>
            <a:ext cx="2273173" cy="923851"/>
            <a:chOff x="-98298" y="-27441"/>
            <a:chExt cx="2273173" cy="923851"/>
          </a:xfrm>
        </p:grpSpPr>
        <p:pic>
          <p:nvPicPr>
            <p:cNvPr id="60" name="Google Shape;60;p3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98298" y="-13461"/>
              <a:ext cx="496880" cy="813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3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98582" y="-6943"/>
              <a:ext cx="746760" cy="9033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3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673479" y="0"/>
              <a:ext cx="501396" cy="855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3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99965" y="-27441"/>
              <a:ext cx="542257" cy="53268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4" name="Google Shape;64;p3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5400000">
            <a:off x="376901" y="-917720"/>
            <a:ext cx="2171699" cy="3892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Slide">
  <p:cSld name="2_Title Slide"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/>
          <p:nvPr/>
        </p:nvSpPr>
        <p:spPr>
          <a:xfrm>
            <a:off x="0" y="-47452"/>
            <a:ext cx="93726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0"/>
          <p:cNvSpPr txBox="1">
            <a:spLocks noGrp="1"/>
          </p:cNvSpPr>
          <p:nvPr>
            <p:ph type="ctrTitle"/>
          </p:nvPr>
        </p:nvSpPr>
        <p:spPr>
          <a:xfrm>
            <a:off x="1575617" y="647700"/>
            <a:ext cx="6781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0"/>
          <p:cNvSpPr txBox="1">
            <a:spLocks noGrp="1"/>
          </p:cNvSpPr>
          <p:nvPr>
            <p:ph type="subTitle" idx="1"/>
          </p:nvPr>
        </p:nvSpPr>
        <p:spPr>
          <a:xfrm>
            <a:off x="1575617" y="3976428"/>
            <a:ext cx="67818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5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9" name="Google Shape;69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131141" y="9509843"/>
            <a:ext cx="2770163" cy="639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7607" y="137664"/>
            <a:ext cx="1524000" cy="15352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40"/>
          <p:cNvGrpSpPr/>
          <p:nvPr/>
        </p:nvGrpSpPr>
        <p:grpSpPr>
          <a:xfrm>
            <a:off x="0" y="9607650"/>
            <a:ext cx="2273173" cy="923851"/>
            <a:chOff x="-98298" y="-27441"/>
            <a:chExt cx="2273173" cy="923851"/>
          </a:xfrm>
        </p:grpSpPr>
        <p:pic>
          <p:nvPicPr>
            <p:cNvPr id="72" name="Google Shape;72;p4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98298" y="-13461"/>
              <a:ext cx="496880" cy="813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4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98582" y="-6943"/>
              <a:ext cx="746760" cy="9033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4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673479" y="0"/>
              <a:ext cx="501396" cy="855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4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99965" y="-27441"/>
              <a:ext cx="542257" cy="5326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40"/>
          <p:cNvSpPr txBox="1">
            <a:spLocks noGrp="1"/>
          </p:cNvSpPr>
          <p:nvPr>
            <p:ph type="body" idx="2"/>
          </p:nvPr>
        </p:nvSpPr>
        <p:spPr>
          <a:xfrm>
            <a:off x="9933034" y="2705100"/>
            <a:ext cx="7795594" cy="5185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50" b="1" i="0">
                <a:solidFill>
                  <a:srgbClr val="1220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1"/>
          <p:cNvSpPr/>
          <p:nvPr/>
        </p:nvSpPr>
        <p:spPr>
          <a:xfrm>
            <a:off x="14081760" y="0"/>
            <a:ext cx="420624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1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1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1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ctrTitle"/>
          </p:nvPr>
        </p:nvSpPr>
        <p:spPr>
          <a:xfrm>
            <a:off x="918556" y="1714500"/>
            <a:ext cx="9993318" cy="2197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65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3" name="Google Shape;83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655070" y="-7620"/>
            <a:ext cx="1600199" cy="303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40794" y="2162478"/>
            <a:ext cx="1428749" cy="2724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40794" y="4068474"/>
            <a:ext cx="1590674" cy="301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773527" y="6153701"/>
            <a:ext cx="1600199" cy="303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59251" y="8323799"/>
            <a:ext cx="1428749" cy="2724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554200" y="9566910"/>
            <a:ext cx="2321676" cy="576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bg>
      <p:bgPr>
        <a:solidFill>
          <a:schemeClr val="lt2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2"/>
          <p:cNvSpPr txBox="1">
            <a:spLocks noGrp="1"/>
          </p:cNvSpPr>
          <p:nvPr>
            <p:ph type="title"/>
          </p:nvPr>
        </p:nvSpPr>
        <p:spPr>
          <a:xfrm>
            <a:off x="1765136" y="639763"/>
            <a:ext cx="1560778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 b="1" i="0">
                <a:solidFill>
                  <a:srgbClr val="12208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2"/>
          <p:cNvSpPr txBox="1">
            <a:spLocks noGrp="1"/>
          </p:cNvSpPr>
          <p:nvPr>
            <p:ph type="body" idx="1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2"/>
          <p:cNvSpPr txBox="1">
            <a:spLocks noGrp="1"/>
          </p:cNvSpPr>
          <p:nvPr>
            <p:ph type="body" idx="2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2"/>
          <p:cNvSpPr/>
          <p:nvPr/>
        </p:nvSpPr>
        <p:spPr>
          <a:xfrm>
            <a:off x="17096377" y="10012426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DFF1FD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137781" y="9452063"/>
            <a:ext cx="2770163" cy="639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40199" y="0"/>
            <a:ext cx="1368211" cy="2781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42"/>
          <p:cNvGrpSpPr/>
          <p:nvPr/>
        </p:nvGrpSpPr>
        <p:grpSpPr>
          <a:xfrm>
            <a:off x="-6640" y="9636308"/>
            <a:ext cx="2273173" cy="923851"/>
            <a:chOff x="-98298" y="-27441"/>
            <a:chExt cx="2273173" cy="923851"/>
          </a:xfrm>
        </p:grpSpPr>
        <p:pic>
          <p:nvPicPr>
            <p:cNvPr id="97" name="Google Shape;97;p4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98298" y="-13461"/>
              <a:ext cx="496880" cy="813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4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98582" y="-6943"/>
              <a:ext cx="746760" cy="9033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4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673479" y="0"/>
              <a:ext cx="501396" cy="855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4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99965" y="-27441"/>
              <a:ext cx="542257" cy="53268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1" name="Google Shape;101;p4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5400000">
            <a:off x="892031" y="-898669"/>
            <a:ext cx="1714500" cy="3511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Only">
  <p:cSld name="1_Title Only"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3"/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6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 b="1" i="0">
                <a:solidFill>
                  <a:srgbClr val="12208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4" name="Google Shape;104;p43"/>
          <p:cNvGrpSpPr/>
          <p:nvPr/>
        </p:nvGrpSpPr>
        <p:grpSpPr>
          <a:xfrm>
            <a:off x="7091" y="9639300"/>
            <a:ext cx="2273173" cy="923851"/>
            <a:chOff x="-98298" y="-27441"/>
            <a:chExt cx="2273173" cy="923851"/>
          </a:xfrm>
        </p:grpSpPr>
        <p:pic>
          <p:nvPicPr>
            <p:cNvPr id="105" name="Google Shape;105;p4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98298" y="-13461"/>
              <a:ext cx="496880" cy="813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4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98582" y="-6943"/>
              <a:ext cx="746760" cy="9033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4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73479" y="0"/>
              <a:ext cx="501396" cy="855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4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99965" y="-27441"/>
              <a:ext cx="542257" cy="5326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43"/>
          <p:cNvSpPr/>
          <p:nvPr/>
        </p:nvSpPr>
        <p:spPr>
          <a:xfrm>
            <a:off x="15696268" y="0"/>
            <a:ext cx="3928115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4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163615" y="9615077"/>
            <a:ext cx="2219324" cy="53268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3"/>
          <p:cNvSpPr txBox="1">
            <a:spLocks noGrp="1"/>
          </p:cNvSpPr>
          <p:nvPr>
            <p:ph type="body" idx="1"/>
          </p:nvPr>
        </p:nvSpPr>
        <p:spPr>
          <a:xfrm>
            <a:off x="891206" y="2933700"/>
            <a:ext cx="7795594" cy="5185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50" b="1" i="0">
                <a:solidFill>
                  <a:srgbClr val="1220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3"/>
          <p:cNvSpPr txBox="1">
            <a:spLocks noGrp="1"/>
          </p:cNvSpPr>
          <p:nvPr>
            <p:ph type="body" idx="2"/>
          </p:nvPr>
        </p:nvSpPr>
        <p:spPr>
          <a:xfrm>
            <a:off x="9127366" y="2930236"/>
            <a:ext cx="8269428" cy="6175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3" name="Google Shape;113;p4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826105" y="25676"/>
            <a:ext cx="1572074" cy="1853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4"/>
          <p:cNvSpPr txBox="1">
            <a:spLocks noGrp="1"/>
          </p:cNvSpPr>
          <p:nvPr>
            <p:ph type="ctrTitle"/>
          </p:nvPr>
        </p:nvSpPr>
        <p:spPr>
          <a:xfrm>
            <a:off x="4147340" y="3126801"/>
            <a:ext cx="9993318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4"/>
          <p:cNvSpPr txBox="1">
            <a:spLocks noGrp="1"/>
          </p:cNvSpPr>
          <p:nvPr>
            <p:ph type="subTitle" idx="1"/>
          </p:nvPr>
        </p:nvSpPr>
        <p:spPr>
          <a:xfrm>
            <a:off x="6177212" y="5789921"/>
            <a:ext cx="5933575" cy="46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5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44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4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4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21" name="Google Shape;121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124033" y="9504338"/>
            <a:ext cx="2770163" cy="639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16200" y="9430083"/>
            <a:ext cx="2770163" cy="639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bg>
      <p:bgPr>
        <a:solidFill>
          <a:schemeClr val="lt2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5"/>
          <p:cNvSpPr txBox="1">
            <a:spLocks noGrp="1"/>
          </p:cNvSpPr>
          <p:nvPr>
            <p:ph type="title"/>
          </p:nvPr>
        </p:nvSpPr>
        <p:spPr>
          <a:xfrm>
            <a:off x="1765136" y="639763"/>
            <a:ext cx="1560778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 b="1" i="0">
                <a:solidFill>
                  <a:srgbClr val="12208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5"/>
          <p:cNvSpPr txBox="1">
            <a:spLocks noGrp="1"/>
          </p:cNvSpPr>
          <p:nvPr>
            <p:ph type="body" idx="1"/>
          </p:nvPr>
        </p:nvSpPr>
        <p:spPr>
          <a:xfrm>
            <a:off x="1744354" y="2175067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45"/>
          <p:cNvSpPr/>
          <p:nvPr/>
        </p:nvSpPr>
        <p:spPr>
          <a:xfrm>
            <a:off x="17096377" y="10012426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DFF1FD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16200" y="9430083"/>
            <a:ext cx="2770163" cy="6394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45"/>
          <p:cNvGrpSpPr/>
          <p:nvPr/>
        </p:nvGrpSpPr>
        <p:grpSpPr>
          <a:xfrm>
            <a:off x="0" y="9607650"/>
            <a:ext cx="2273173" cy="923851"/>
            <a:chOff x="-98298" y="-27441"/>
            <a:chExt cx="2273173" cy="923851"/>
          </a:xfrm>
        </p:grpSpPr>
        <p:pic>
          <p:nvPicPr>
            <p:cNvPr id="129" name="Google Shape;129;p4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98298" y="-13461"/>
              <a:ext cx="496880" cy="813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4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8582" y="-6943"/>
              <a:ext cx="746760" cy="9033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4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673479" y="0"/>
              <a:ext cx="501396" cy="855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4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99965" y="-27441"/>
              <a:ext cx="542257" cy="53268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3" name="Google Shape;133;p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312480" y="8943"/>
            <a:ext cx="1975520" cy="2076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4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203984" y="0"/>
            <a:ext cx="1542752" cy="287481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5"/>
          <p:cNvSpPr txBox="1">
            <a:spLocks noGrp="1"/>
          </p:cNvSpPr>
          <p:nvPr>
            <p:ph type="body" idx="2"/>
          </p:nvPr>
        </p:nvSpPr>
        <p:spPr>
          <a:xfrm>
            <a:off x="10126205" y="3779078"/>
            <a:ext cx="7795594" cy="5185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50" b="1" i="0">
                <a:solidFill>
                  <a:srgbClr val="1220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g object 16">
            <a:extLst>
              <a:ext uri="{FF2B5EF4-FFF2-40B4-BE49-F238E27FC236}">
                <a16:creationId xmlns:a16="http://schemas.microsoft.com/office/drawing/2014/main" id="{95C740FA-0C49-45F1-858E-17E5D16A08D9}"/>
              </a:ext>
            </a:extLst>
          </p:cNvPr>
          <p:cNvSpPr/>
          <p:nvPr userDrawn="1"/>
        </p:nvSpPr>
        <p:spPr>
          <a:xfrm>
            <a:off x="15696268" y="0"/>
            <a:ext cx="3928115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1206" y="952500"/>
            <a:ext cx="14805062" cy="1107996"/>
          </a:xfrm>
        </p:spPr>
        <p:txBody>
          <a:bodyPr lIns="0" tIns="0" rIns="0" bIns="0"/>
          <a:lstStyle>
            <a:lvl1pPr>
              <a:defRPr sz="7200" b="1" i="0">
                <a:solidFill>
                  <a:srgbClr val="12208F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90A2C828-C8DB-4471-93D9-D238181AE838}"/>
              </a:ext>
            </a:extLst>
          </p:cNvPr>
          <p:cNvGrpSpPr/>
          <p:nvPr userDrawn="1"/>
        </p:nvGrpSpPr>
        <p:grpSpPr>
          <a:xfrm>
            <a:off x="7091" y="9639300"/>
            <a:ext cx="2273173" cy="923851"/>
            <a:chOff x="-98298" y="-27441"/>
            <a:chExt cx="2273173" cy="92385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5E56477F-8358-468E-B462-0769DB7BB27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98298" y="-13461"/>
              <a:ext cx="496880" cy="813561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45A67AB0-3CD2-4D76-B5C4-D917763C6AF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582" y="-6943"/>
              <a:ext cx="746760" cy="903353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C5A88CDB-634D-4463-969F-AD48FE5A87E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3479" y="0"/>
              <a:ext cx="501396" cy="855615"/>
            </a:xfrm>
            <a:prstGeom prst="rect">
              <a:avLst/>
            </a:prstGeom>
          </p:spPr>
        </p:pic>
        <p:pic>
          <p:nvPicPr>
            <p:cNvPr id="10" name="object 17">
              <a:extLst>
                <a:ext uri="{FF2B5EF4-FFF2-40B4-BE49-F238E27FC236}">
                  <a16:creationId xmlns:a16="http://schemas.microsoft.com/office/drawing/2014/main" id="{8FCACFF8-1B6E-4DA7-946C-0ED2C810F79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9965" y="-27441"/>
              <a:ext cx="542257" cy="532681"/>
            </a:xfrm>
            <a:prstGeom prst="rect">
              <a:avLst/>
            </a:prstGeom>
          </p:spPr>
        </p:pic>
      </p:grpSp>
      <p:pic>
        <p:nvPicPr>
          <p:cNvPr id="12" name="object 5">
            <a:extLst>
              <a:ext uri="{FF2B5EF4-FFF2-40B4-BE49-F238E27FC236}">
                <a16:creationId xmlns:a16="http://schemas.microsoft.com/office/drawing/2014/main" id="{14711DAA-94B6-4C7F-B701-697DA6D07C4F}"/>
              </a:ext>
            </a:extLst>
          </p:cNvPr>
          <p:cNvPicPr/>
          <p:nvPr userDrawn="1"/>
        </p:nvPicPr>
        <p:blipFill>
          <a:blip r:embed="rId6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3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63615" y="9615077"/>
            <a:ext cx="2219324" cy="532681"/>
          </a:xfrm>
          <a:prstGeom prst="rect">
            <a:avLst/>
          </a:prstGeom>
        </p:spPr>
      </p:pic>
      <p:sp>
        <p:nvSpPr>
          <p:cNvPr id="13" name="Holder 3">
            <a:extLst>
              <a:ext uri="{FF2B5EF4-FFF2-40B4-BE49-F238E27FC236}">
                <a16:creationId xmlns:a16="http://schemas.microsoft.com/office/drawing/2014/main" id="{99C0967C-D8E3-490C-A10A-00944E473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206" y="2933700"/>
            <a:ext cx="7795594" cy="5185409"/>
          </a:xfrm>
        </p:spPr>
        <p:txBody>
          <a:bodyPr lIns="0" tIns="0" rIns="0" bIns="0"/>
          <a:lstStyle>
            <a:lvl1pPr>
              <a:defRPr sz="3050" b="1" i="0">
                <a:solidFill>
                  <a:srgbClr val="12208F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15" name="Holder 4">
            <a:extLst>
              <a:ext uri="{FF2B5EF4-FFF2-40B4-BE49-F238E27FC236}">
                <a16:creationId xmlns:a16="http://schemas.microsoft.com/office/drawing/2014/main" id="{B8F5ECCF-389A-4372-A035-4B585D9A84B0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9127366" y="2930236"/>
            <a:ext cx="8269428" cy="6175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pic>
        <p:nvPicPr>
          <p:cNvPr id="17" name="object 11">
            <a:extLst>
              <a:ext uri="{FF2B5EF4-FFF2-40B4-BE49-F238E27FC236}">
                <a16:creationId xmlns:a16="http://schemas.microsoft.com/office/drawing/2014/main" id="{63D10EDC-0CA7-4656-8365-CD59E04F80FE}"/>
              </a:ext>
            </a:extLst>
          </p:cNvPr>
          <p:cNvPicPr/>
          <p:nvPr userDrawn="1"/>
        </p:nvPicPr>
        <p:blipFill>
          <a:blip r:embed="rId8" cstate="print">
            <a:lum bright="70000" contrast="-70000"/>
          </a:blip>
          <a:stretch>
            <a:fillRect/>
          </a:stretch>
        </p:blipFill>
        <p:spPr>
          <a:xfrm>
            <a:off x="15696268" y="103213"/>
            <a:ext cx="1413241" cy="161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4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/>
          <p:nvPr/>
        </p:nvSpPr>
        <p:spPr>
          <a:xfrm>
            <a:off x="0" y="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FF1F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5"/>
          <p:cNvSpPr txBox="1">
            <a:spLocks noGrp="1"/>
          </p:cNvSpPr>
          <p:nvPr>
            <p:ph type="title"/>
          </p:nvPr>
        </p:nvSpPr>
        <p:spPr>
          <a:xfrm>
            <a:off x="1143678" y="893282"/>
            <a:ext cx="6360795" cy="262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1" i="0" u="none" strike="noStrike" cap="none">
                <a:solidFill>
                  <a:srgbClr val="1220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body" idx="1"/>
          </p:nvPr>
        </p:nvSpPr>
        <p:spPr>
          <a:xfrm>
            <a:off x="1016000" y="2949709"/>
            <a:ext cx="11767820" cy="5185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50" b="1" i="0" u="none" strike="noStrike" cap="none">
                <a:solidFill>
                  <a:srgbClr val="1220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35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uancaarvalho/Arq_Micro_MBA_En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uancaarvalho/Arq_Micro_MBA_En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9JPYCOpeDnY?feature=oembed" TargetMode="External"/><Relationship Id="rId4" Type="http://schemas.openxmlformats.org/officeDocument/2006/relationships/image" Target="../media/image46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 txBox="1">
            <a:spLocks noGrp="1"/>
          </p:cNvSpPr>
          <p:nvPr>
            <p:ph type="ctrTitle" idx="4294967295"/>
          </p:nvPr>
        </p:nvSpPr>
        <p:spPr>
          <a:xfrm>
            <a:off x="4147340" y="3126801"/>
            <a:ext cx="9993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7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Aula 01 </a:t>
            </a:r>
            <a:endParaRPr sz="8000" b="1" i="0" u="none" strike="noStrike" cap="none" dirty="0">
              <a:solidFill>
                <a:srgbClr val="1220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>
            <a:spLocks noGrp="1"/>
          </p:cNvSpPr>
          <p:nvPr>
            <p:ph type="subTitle" idx="4294967295"/>
          </p:nvPr>
        </p:nvSpPr>
        <p:spPr>
          <a:xfrm>
            <a:off x="6177212" y="5789921"/>
            <a:ext cx="5933575" cy="46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305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Arquitetura de Microsserviços</a:t>
            </a:r>
            <a:endParaRPr sz="3050" b="1" i="0" u="none" strike="noStrike" cap="none" dirty="0">
              <a:solidFill>
                <a:srgbClr val="1220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935478" y="10085432"/>
            <a:ext cx="752475" cy="78068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DFF1F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6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Agenda </a:t>
            </a:r>
            <a:r>
              <a:rPr lang="pt-BR" dirty="0" err="1"/>
              <a:t>Arq</a:t>
            </a:r>
            <a:r>
              <a:rPr lang="pt-BR" dirty="0"/>
              <a:t> Microsserviços </a:t>
            </a:r>
            <a:endParaRPr dirty="0"/>
          </a:p>
        </p:txBody>
      </p:sp>
      <p:sp>
        <p:nvSpPr>
          <p:cNvPr id="149" name="Google Shape;149;p2"/>
          <p:cNvSpPr txBox="1">
            <a:spLocks noGrp="1"/>
          </p:cNvSpPr>
          <p:nvPr>
            <p:ph type="body" idx="1"/>
          </p:nvPr>
        </p:nvSpPr>
        <p:spPr>
          <a:xfrm>
            <a:off x="891206" y="2933700"/>
            <a:ext cx="14107684" cy="516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- Aula 1 — Trabalho + Fundamentos</a:t>
            </a:r>
            <a:br>
              <a:rPr lang="pt-BR" dirty="0"/>
            </a:b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 dirty="0"/>
              <a:t>- Aula 2 — Kafka 101 + </a:t>
            </a:r>
            <a:r>
              <a:rPr lang="pt-BR" dirty="0"/>
              <a:t>Service Design Parte 1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- </a:t>
            </a:r>
            <a:r>
              <a:rPr lang="pt-BR" b="1" dirty="0"/>
              <a:t>Aula 3 — </a:t>
            </a:r>
            <a:r>
              <a:rPr lang="pt-BR" dirty="0"/>
              <a:t>Service Design – Parte 2</a:t>
            </a:r>
            <a:br>
              <a:rPr lang="pt-BR" dirty="0"/>
            </a:b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- </a:t>
            </a:r>
            <a:r>
              <a:rPr lang="pt-BR" b="1" dirty="0"/>
              <a:t>Aula 4 — </a:t>
            </a:r>
            <a:r>
              <a:rPr lang="pt-BR" dirty="0"/>
              <a:t>Integração e comunicação entre microsserviços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pt-BR" dirty="0"/>
            </a:br>
            <a:r>
              <a:rPr lang="pt-BR" dirty="0"/>
              <a:t>- Aula 5 – Projetos práticos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pt-B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0" name="Google Shape;150;p2"/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Agenda Dia 01 </a:t>
            </a:r>
            <a:endParaRPr dirty="0"/>
          </a:p>
        </p:txBody>
      </p:sp>
      <p:sp>
        <p:nvSpPr>
          <p:cNvPr id="156" name="Google Shape;156;p3"/>
          <p:cNvSpPr txBox="1">
            <a:spLocks noGrp="1"/>
          </p:cNvSpPr>
          <p:nvPr>
            <p:ph type="body" idx="1"/>
          </p:nvPr>
        </p:nvSpPr>
        <p:spPr>
          <a:xfrm>
            <a:off x="891201" y="2948544"/>
            <a:ext cx="13104000" cy="4224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08F"/>
              </a:buClr>
              <a:buSzPts val="3000"/>
              <a:buFont typeface="Arial"/>
              <a:buAutoNum type="arabicPeriod"/>
            </a:pPr>
            <a:r>
              <a:rPr lang="pt-BR" dirty="0"/>
              <a:t>Principais projetos</a:t>
            </a:r>
          </a:p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08F"/>
              </a:buClr>
              <a:buSzPts val="3000"/>
              <a:buFont typeface="Arial"/>
              <a:buAutoNum type="arabicPeriod"/>
            </a:pPr>
            <a:r>
              <a:rPr lang="pt-BR" dirty="0"/>
              <a:t>Apresentação do Trabalho</a:t>
            </a:r>
            <a:endParaRPr dirty="0"/>
          </a:p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08F"/>
              </a:buClr>
              <a:buSzPts val="3000"/>
              <a:buFont typeface="Arial"/>
              <a:buAutoNum type="arabicPeriod"/>
            </a:pPr>
            <a:r>
              <a:rPr lang="pt-BR" dirty="0"/>
              <a:t>Teoria sobre CDC</a:t>
            </a:r>
          </a:p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08F"/>
              </a:buClr>
              <a:buSzPts val="3000"/>
              <a:buFont typeface="Arial"/>
              <a:buAutoNum type="arabicPeriod"/>
            </a:pPr>
            <a:r>
              <a:rPr lang="pt-BR" dirty="0"/>
              <a:t>Fundamentação Teórica - Microsserviços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rgbClr val="12208F"/>
              </a:buClr>
              <a:buSzPts val="3000"/>
              <a:buAutoNum type="arabicPeriod"/>
            </a:pPr>
            <a:r>
              <a:rPr lang="pt-BR" dirty="0"/>
              <a:t> Demo / Atividade Prática</a:t>
            </a: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514350" lvl="0" indent="-3206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08F"/>
              </a:buClr>
              <a:buSzPts val="3050"/>
              <a:buFont typeface="Arial"/>
              <a:buNone/>
            </a:pPr>
            <a:endParaRPr dirty="0"/>
          </a:p>
        </p:txBody>
      </p:sp>
      <p:sp>
        <p:nvSpPr>
          <p:cNvPr id="157" name="Google Shape;157;p3"/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e54961165_0_0"/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Referências &amp; Repo </a:t>
            </a:r>
            <a:endParaRPr/>
          </a:p>
        </p:txBody>
      </p:sp>
      <p:sp>
        <p:nvSpPr>
          <p:cNvPr id="163" name="Google Shape;163;g39e54961165_0_0"/>
          <p:cNvSpPr txBox="1">
            <a:spLocks noGrp="1"/>
          </p:cNvSpPr>
          <p:nvPr>
            <p:ph type="body" idx="1"/>
          </p:nvPr>
        </p:nvSpPr>
        <p:spPr>
          <a:xfrm>
            <a:off x="891206" y="2933700"/>
            <a:ext cx="11300700" cy="93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4" name="Google Shape;164;g39e54961165_0_0"/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5D1FAB4-52E4-62E8-A476-6A79D8B6A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476" y="1936209"/>
            <a:ext cx="6373114" cy="762689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9A10A70-AAB9-4F09-03FB-12E2330AC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842" y="1936208"/>
            <a:ext cx="5744218" cy="76268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 txBox="1">
            <a:spLocks noGrp="1"/>
          </p:cNvSpPr>
          <p:nvPr>
            <p:ph type="ctrTitle" idx="4294967295"/>
          </p:nvPr>
        </p:nvSpPr>
        <p:spPr>
          <a:xfrm>
            <a:off x="4147340" y="3126801"/>
            <a:ext cx="99933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7200" dirty="0">
                <a:solidFill>
                  <a:schemeClr val="lt1"/>
                </a:solidFill>
              </a:rPr>
              <a:t>Principais projetos</a:t>
            </a:r>
            <a:endParaRPr sz="8000" b="1" i="0" u="none" strike="noStrike" cap="none" dirty="0">
              <a:solidFill>
                <a:srgbClr val="1220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935478" y="10085432"/>
            <a:ext cx="752475" cy="78068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DFF1F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09001-BD96-07C4-340A-4D599D57B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22B7E48-AC06-97A8-BE5F-1B495CF00CE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CDC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D8592FC8-7484-0896-050F-AEC22E1AD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206" y="2933700"/>
            <a:ext cx="7795594" cy="3285515"/>
          </a:xfrm>
        </p:spPr>
        <p:txBody>
          <a:bodyPr/>
          <a:lstStyle/>
          <a:p>
            <a:r>
              <a:rPr lang="pt-BR" dirty="0"/>
              <a:t>- </a:t>
            </a:r>
          </a:p>
          <a:p>
            <a:r>
              <a:rPr lang="pt-BR" dirty="0"/>
              <a:t>- </a:t>
            </a:r>
          </a:p>
          <a:p>
            <a:r>
              <a:rPr lang="pt-BR" dirty="0"/>
              <a:t>- </a:t>
            </a:r>
          </a:p>
          <a:p>
            <a:r>
              <a:rPr lang="pt-BR" dirty="0"/>
              <a:t>- </a:t>
            </a:r>
          </a:p>
          <a:p>
            <a:r>
              <a:rPr lang="pt-BR" dirty="0"/>
              <a:t>- </a:t>
            </a:r>
          </a:p>
          <a:p>
            <a:r>
              <a:rPr lang="pt-BR" dirty="0"/>
              <a:t>- </a:t>
            </a:r>
          </a:p>
          <a:p>
            <a:r>
              <a:rPr lang="pt-BR" dirty="0"/>
              <a:t>- </a:t>
            </a:r>
          </a:p>
        </p:txBody>
      </p:sp>
      <p:sp>
        <p:nvSpPr>
          <p:cNvPr id="23" name="Espaço Reservado para Conteúdo 22">
            <a:extLst>
              <a:ext uri="{FF2B5EF4-FFF2-40B4-BE49-F238E27FC236}">
                <a16:creationId xmlns:a16="http://schemas.microsoft.com/office/drawing/2014/main" id="{420A99A9-1B58-D224-23B0-79FDEDA72146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2CF11B4-38C5-8AA8-62E0-94B6A5426E67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15F4641-C410-2AC6-CC40-7B24C3256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4796"/>
            <a:ext cx="15696268" cy="811220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5379E5C-CE4B-D593-DBA3-B60077B17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0496"/>
            <a:ext cx="15696268" cy="822650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D840B1B-C97A-5AA8-B8B4-560F3EA31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46931"/>
            <a:ext cx="15696268" cy="814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598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009DA0C2-20A8-9806-C666-BF2124EF0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B33C6594-48DD-AFEF-7078-0875D3DFAF33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4147340" y="3126801"/>
            <a:ext cx="99933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7200" dirty="0">
                <a:solidFill>
                  <a:schemeClr val="lt1"/>
                </a:solidFill>
              </a:rPr>
              <a:t>Trabalho + Teoria CDC</a:t>
            </a:r>
            <a:endParaRPr sz="8000" b="1" i="0" u="none" strike="noStrike" cap="none" dirty="0">
              <a:solidFill>
                <a:srgbClr val="1220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11FD1F19-C1F6-58C1-0D64-73250F2818ED}"/>
              </a:ext>
            </a:extLst>
          </p:cNvPr>
          <p:cNvSpPr/>
          <p:nvPr/>
        </p:nvSpPr>
        <p:spPr>
          <a:xfrm>
            <a:off x="935478" y="10085432"/>
            <a:ext cx="752475" cy="78068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DFF1F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5019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68680642-2448-63FC-A585-463B96F5B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6CA21B06-7601-A371-C6A6-394AFE5670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Trabalho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BDBFD4F4-F345-CC40-3ED5-015BD24729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4370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Pipeline Fim a Fim de replicação de dados com CDC</a:t>
            </a:r>
            <a:br>
              <a:rPr lang="pt-BR" sz="3550" dirty="0"/>
            </a:br>
            <a:r>
              <a:rPr lang="pt-BR" sz="3550" dirty="0"/>
              <a:t> </a:t>
            </a:r>
            <a:endParaRPr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Bando de dados fonte -&gt; Replicação Lógica -&gt; Kafka -&gt; distribuição</a:t>
            </a:r>
            <a:br>
              <a:rPr lang="pt-BR" sz="3550" dirty="0"/>
            </a:br>
            <a:endParaRPr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Ferramentas sugeridas: Kafka, </a:t>
            </a:r>
            <a:r>
              <a:rPr lang="pt-BR" sz="3550" dirty="0" err="1"/>
              <a:t>Debezium</a:t>
            </a:r>
            <a:r>
              <a:rPr lang="pt-BR" sz="3550" dirty="0"/>
              <a:t>/</a:t>
            </a:r>
            <a:r>
              <a:rPr lang="pt-BR" sz="3550" dirty="0" err="1"/>
              <a:t>Airbyte</a:t>
            </a:r>
            <a:r>
              <a:rPr lang="pt-BR" sz="3550" dirty="0"/>
              <a:t>, </a:t>
            </a:r>
            <a:r>
              <a:rPr lang="pt-BR" sz="3550" dirty="0" err="1"/>
              <a:t>DuckDb</a:t>
            </a:r>
            <a:r>
              <a:rPr lang="pt-BR" sz="3550" dirty="0"/>
              <a:t>, </a:t>
            </a:r>
            <a:r>
              <a:rPr lang="pt-BR" sz="3550" dirty="0" err="1"/>
              <a:t>Postgres</a:t>
            </a:r>
            <a:r>
              <a:rPr lang="pt-BR" sz="3550" dirty="0"/>
              <a:t>, </a:t>
            </a:r>
            <a:r>
              <a:rPr lang="pt-BR" sz="3550" dirty="0" err="1"/>
              <a:t>MinIO</a:t>
            </a:r>
            <a:endParaRPr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F1342E95-3C6C-3470-03F6-8A20C608C32D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8062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2F2761E7-FA19-9D1E-53B1-5D9B108E2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C45778DA-B3B7-4C2B-2BB9-68C96C32F0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Trabalho – Avaliação e entrega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01C6665F-1E68-A38F-9B84-03015EBA03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3824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Pipeline reprodutível</a:t>
            </a:r>
            <a:br>
              <a:rPr lang="pt-BR" sz="3550" dirty="0"/>
            </a:br>
            <a:r>
              <a:rPr lang="pt-BR" sz="3550" dirty="0"/>
              <a:t> </a:t>
            </a:r>
            <a:endParaRPr sz="3550" dirty="0"/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PR para o </a:t>
            </a:r>
            <a:r>
              <a:rPr lang="pt-BR" sz="3550" dirty="0">
                <a:hlinkClick r:id="rId3"/>
              </a:rPr>
              <a:t>repositório da disciplina </a:t>
            </a:r>
            <a:br>
              <a:rPr lang="pt-BR" sz="3550" dirty="0"/>
            </a:br>
            <a:endParaRPr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Monitorar uma fonte de dados, enviar para o Kafka e replicar para pelo menos 2 outras fontes de dados</a:t>
            </a:r>
            <a:endParaRPr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5B5579EA-1D88-81E8-20C6-604973870A8A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9089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EFD64798-BF83-55F6-39E1-972755C0A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47EE11FE-BBF2-D53C-AC9D-596B2FF7F4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Trabalho – Avaliação e entrega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9A494005-AA6B-2D51-8D7E-26792934FA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3824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Pipeline reprodutível</a:t>
            </a:r>
            <a:br>
              <a:rPr lang="pt-BR" sz="3550" dirty="0"/>
            </a:br>
            <a:r>
              <a:rPr lang="pt-BR" sz="3550" dirty="0"/>
              <a:t> </a:t>
            </a:r>
            <a:endParaRPr sz="3550" dirty="0"/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PR para o </a:t>
            </a:r>
            <a:r>
              <a:rPr lang="pt-BR" sz="3550" dirty="0">
                <a:hlinkClick r:id="rId3"/>
              </a:rPr>
              <a:t>repositório da disciplina </a:t>
            </a:r>
            <a:br>
              <a:rPr lang="pt-BR" sz="3550" dirty="0"/>
            </a:br>
            <a:endParaRPr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Monitorar uma fonte de dados, enviar para o Kafka e replicar para pelo menos 2 outras fontes de dados</a:t>
            </a:r>
            <a:endParaRPr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1DE17D3F-1DEA-5D91-2746-58F91BAD4002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ACF6D76-DA5D-EEAA-6924-E81D3594A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680072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58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4C2315D7-B8A8-9EA4-D69D-DCCBAE376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3FE0A38A-569B-21D8-FDD2-D6299FAD9E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CDC – </a:t>
            </a:r>
            <a:r>
              <a:rPr lang="pt-BR" dirty="0" err="1"/>
              <a:t>Change</a:t>
            </a:r>
            <a:r>
              <a:rPr lang="pt-BR" dirty="0"/>
              <a:t> Data Capture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CA00B8F9-D6E6-8AFF-349D-9090AA67A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600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Técnicas de Integração</a:t>
            </a:r>
            <a:br>
              <a:rPr lang="pt-BR" sz="3550" dirty="0"/>
            </a:br>
            <a:r>
              <a:rPr lang="pt-BR" sz="3550" dirty="0"/>
              <a:t>	- Conecta legados/monólitos a domínios e serviços modernos</a:t>
            </a:r>
            <a:br>
              <a:rPr lang="pt-BR" sz="3550" dirty="0"/>
            </a:br>
            <a:r>
              <a:rPr lang="pt-BR" sz="3550" dirty="0"/>
              <a:t>	- Reduz acoplamento: a fonte não precisa conhecer todos os consumidores</a:t>
            </a:r>
            <a:br>
              <a:rPr lang="pt-BR" sz="3550" dirty="0"/>
            </a:br>
            <a:r>
              <a:rPr lang="pt-BR" sz="3550" dirty="0"/>
              <a:t> </a:t>
            </a:r>
            <a:endParaRPr sz="3550" dirty="0"/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Capturar as mudanças do banco sem ler a tabela toda</a:t>
            </a:r>
            <a:br>
              <a:rPr lang="pt-BR" sz="3550" dirty="0"/>
            </a:br>
            <a:endParaRPr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- 5 Técnicas distintas</a:t>
            </a:r>
            <a:br>
              <a:rPr lang="pt-BR" sz="3550" dirty="0"/>
            </a:br>
            <a:endParaRPr lang="pt-BR"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Log </a:t>
            </a:r>
            <a:r>
              <a:rPr lang="pt-BR" sz="3550" dirty="0" err="1"/>
              <a:t>Based</a:t>
            </a:r>
            <a:r>
              <a:rPr lang="pt-BR" sz="3550" dirty="0"/>
              <a:t> é o estado da arte</a:t>
            </a:r>
            <a:endParaRPr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88BA4E55-5B97-B956-4960-DEE23439C8E9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7909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493841EA-C917-11CA-BCFC-9A11D2A57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11F6E05F-4ED7-90A9-320C-7A9E90DC19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Log </a:t>
            </a:r>
            <a:r>
              <a:rPr lang="pt-BR" dirty="0" err="1"/>
              <a:t>Based</a:t>
            </a:r>
            <a:r>
              <a:rPr lang="pt-BR" dirty="0"/>
              <a:t> - CDC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2BAEEF6B-9707-3761-83BB-E659173AFB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3824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 - Lê e interpreta o log de transações para extrair mudanças </a:t>
            </a:r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pt-BR" sz="3550" dirty="0"/>
            </a:br>
            <a:r>
              <a:rPr lang="pt-BR" sz="3550" dirty="0"/>
              <a:t>- Alta fidelidade (antes/depois) e baixa latência </a:t>
            </a:r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pt-BR" sz="3550" dirty="0"/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Preserva ordem e permite reconstrução fiel dos fatos</a:t>
            </a:r>
            <a:br>
              <a:rPr lang="pt-BR" sz="3550" dirty="0"/>
            </a:br>
            <a:endParaRPr lang="pt-BR" sz="3550" dirty="0"/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Não causa overhead no banco de origem</a:t>
            </a:r>
            <a:endParaRPr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165234D7-2165-E944-8691-1270D008E963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0585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4BE5929C-C200-E8DD-59C5-6618E026F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217D358F-5A38-C1AB-EAF4-A497B1F4E2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Log </a:t>
            </a:r>
            <a:r>
              <a:rPr lang="pt-BR" dirty="0" err="1"/>
              <a:t>Based</a:t>
            </a:r>
            <a:r>
              <a:rPr lang="pt-BR" dirty="0"/>
              <a:t> - CDC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F6DF19E8-66A5-E6C4-C996-0CADB49BD0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546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A9FCDD3A-E8B1-FE40-4E93-49E0F45B2EC5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5846592-6287-559E-FF34-F44C8F1F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06" y="2952719"/>
            <a:ext cx="13129129" cy="410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285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0ECFD3FA-B817-7FFB-87DE-DC9ED452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CD2ED953-306A-D816-AE1C-F7699305D7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Quando usar/ Cautelas ? 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873217EA-E09A-113A-9D61-DEDF8FF21D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4370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Ideal em alta transacionalidade e necessidade de tempo quase real </a:t>
            </a:r>
            <a:br>
              <a:rPr lang="pt-BR" sz="3550" dirty="0"/>
            </a:br>
            <a:endParaRPr lang="pt-BR"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Requer acesso/compatibilidade com o mecanismo de log 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Planeje checkpoints, </a:t>
            </a:r>
            <a:r>
              <a:rPr lang="pt-BR" sz="3550" dirty="0" err="1"/>
              <a:t>backpressure</a:t>
            </a:r>
            <a:r>
              <a:rPr lang="pt-BR" sz="3550" dirty="0"/>
              <a:t> e replay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Configuração dos logs de replicação nem sempre é trivial</a:t>
            </a:r>
            <a:endParaRPr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8098197B-C70D-AA02-DC9A-4E08E18912EE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9531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CAB9D294-93AA-029A-5BF0-6507DC435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2449C251-AEDB-9C9A-062F-E762023A54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Trigger </a:t>
            </a:r>
            <a:r>
              <a:rPr lang="pt-BR" dirty="0" err="1"/>
              <a:t>Based</a:t>
            </a:r>
            <a:r>
              <a:rPr lang="pt-BR" dirty="0"/>
              <a:t> - CDC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8876FEB5-44B9-FD78-5EF0-2DBFB3FD48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273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 - Gatilhos/Triggers do banco gravam mudanças em área dedicada </a:t>
            </a:r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pt-BR" sz="3550" dirty="0"/>
            </a:br>
            <a:r>
              <a:rPr lang="pt-BR" sz="3550" dirty="0"/>
              <a:t>- Granularidade boa e latência baixa </a:t>
            </a:r>
            <a:br>
              <a:rPr lang="pt-BR" sz="3550" dirty="0"/>
            </a:br>
            <a:endParaRPr lang="pt-BR" sz="3550" dirty="0"/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Cuidado com overhead sob alto volume</a:t>
            </a:r>
            <a:endParaRPr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388C8602-48D6-89D8-2591-68C7289D4FF7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6743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A9D4955B-E01D-CB5D-3820-65761FE02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D97DE8DC-E1F1-F00C-F309-9D3A339552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Trigger </a:t>
            </a:r>
            <a:r>
              <a:rPr lang="pt-BR" dirty="0" err="1"/>
              <a:t>Based</a:t>
            </a:r>
            <a:r>
              <a:rPr lang="pt-BR" dirty="0"/>
              <a:t> - CDC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09A1C35A-7290-0CD4-DBDE-11DBC5B443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546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28D06C5F-6B32-77B3-B9D7-734A110065A8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3689967-0440-1084-385C-0C619B28F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06" y="2952719"/>
            <a:ext cx="13129129" cy="410628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71F9165-211E-5130-AA86-68B4FB4BE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53" y="2174796"/>
            <a:ext cx="14202991" cy="528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782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0D86C2EF-0D02-6D55-54AE-57C7C615A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2E56003B-50BD-6BF4-B1C8-80DA5071D6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Quando usar/Cautelas ? 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C0B99D2A-8EC8-CECE-1504-65F00125A0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3824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 - Latência baixa com granularidade por operação</a:t>
            </a:r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pt-BR" sz="3550" dirty="0"/>
            </a:br>
            <a:r>
              <a:rPr lang="pt-BR" sz="3550" dirty="0"/>
              <a:t>- Não tem acesso aos logs de replicação lógica</a:t>
            </a:r>
            <a:br>
              <a:rPr lang="pt-BR" sz="3550" dirty="0"/>
            </a:br>
            <a:endParaRPr lang="pt-BR" sz="3550" dirty="0"/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Cuidado com overhead sob alto volume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Pode gerar </a:t>
            </a:r>
            <a:r>
              <a:rPr lang="pt-BR" sz="3550" dirty="0" err="1"/>
              <a:t>lock</a:t>
            </a:r>
            <a:r>
              <a:rPr lang="pt-BR" sz="3550" dirty="0"/>
              <a:t> no banco</a:t>
            </a:r>
            <a:endParaRPr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0E1F42BA-1268-F13A-B540-C4A26E881D68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5898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3523D9EF-FF41-DE0E-159F-1AD24933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41ECC821-0CE8-9275-E27C-2CB76AD80A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 err="1"/>
              <a:t>Audit</a:t>
            </a:r>
            <a:r>
              <a:rPr lang="pt-BR" dirty="0"/>
              <a:t> </a:t>
            </a:r>
            <a:r>
              <a:rPr lang="pt-BR" dirty="0" err="1"/>
              <a:t>Columns</a:t>
            </a:r>
            <a:r>
              <a:rPr lang="pt-BR" dirty="0"/>
              <a:t>- CDC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2F628719-7FED-897C-FA8A-8D6417261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273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 - Campos que marcam quando o registro mudou </a:t>
            </a:r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pt-BR" sz="3550" dirty="0"/>
            </a:br>
            <a:r>
              <a:rPr lang="pt-BR" sz="3550" dirty="0"/>
              <a:t>- Simples e pouco intrusivo; não captura exclusões por padrão </a:t>
            </a:r>
            <a:br>
              <a:rPr lang="pt-BR" sz="3550" dirty="0"/>
            </a:br>
            <a:endParaRPr lang="pt-BR" sz="3550" dirty="0"/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Útil quando precisão por operação não é crítica</a:t>
            </a:r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ADF7506B-3024-6FEC-60DF-8D572FA40463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9075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07C6B52B-3F61-1DE0-302D-0831BAFEE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A8999FE2-8DA5-56D1-B49C-DAEE702523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 err="1"/>
              <a:t>Audit</a:t>
            </a:r>
            <a:r>
              <a:rPr lang="pt-BR" dirty="0"/>
              <a:t> </a:t>
            </a:r>
            <a:r>
              <a:rPr lang="pt-BR" dirty="0" err="1"/>
              <a:t>Columns</a:t>
            </a:r>
            <a:r>
              <a:rPr lang="pt-BR" dirty="0"/>
              <a:t> - CDC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9A703358-ED4C-DD98-0BF9-DCA714E98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546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B7D8D067-8BDE-8C58-132C-9CC59463D97C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F9491ED-9417-0A7F-20D1-5848881D6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06" y="2952719"/>
            <a:ext cx="13129129" cy="410628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DB1DAF3-C7B7-6D72-25F5-D87149B2C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53" y="2174796"/>
            <a:ext cx="14202991" cy="528115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1D0235C-E20D-BDD8-52DA-E258FD32E2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31" y="2174796"/>
            <a:ext cx="15310988" cy="629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76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E0586692-5A3B-9714-CD49-D232E4442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967F0572-3750-A57E-3B46-D5337A73CE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Quando usar/Cautelas ? 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9CC9CEB1-539E-65F6-2B95-95DA82CDCB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3824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 - Rastreamento incremental simples com baixo impacto e Sistemas que aceitam latência de minutos</a:t>
            </a:r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pt-BR" sz="3550" dirty="0"/>
            </a:br>
            <a:r>
              <a:rPr lang="pt-BR" sz="3550" dirty="0"/>
              <a:t>- Exclusões não aparecem por padrão e Distinguir inserção </a:t>
            </a:r>
            <a:r>
              <a:rPr lang="pt-BR" sz="3550" dirty="0" err="1"/>
              <a:t>vs</a:t>
            </a:r>
            <a:r>
              <a:rPr lang="pt-BR" sz="3550" dirty="0"/>
              <a:t> atualização exige coluna dedicada</a:t>
            </a:r>
            <a:br>
              <a:rPr lang="pt-BR" sz="3550" dirty="0"/>
            </a:br>
            <a:endParaRPr lang="pt-BR" sz="3550" dirty="0"/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 - Índices e partições por </a:t>
            </a:r>
            <a:r>
              <a:rPr lang="pt-BR" sz="3550" dirty="0" err="1"/>
              <a:t>timestamp</a:t>
            </a:r>
            <a:endParaRPr lang="pt-BR"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5F02B48E-9D2D-01A8-AF68-6F4AAF187005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7400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E37E95CF-7B6C-84DD-8773-C70E1EE55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BC56DCEA-B307-2796-74D2-6CB6146DDC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 err="1"/>
              <a:t>Timestamp</a:t>
            </a:r>
            <a:r>
              <a:rPr lang="pt-BR" dirty="0"/>
              <a:t> </a:t>
            </a:r>
            <a:r>
              <a:rPr lang="pt-BR" dirty="0" err="1"/>
              <a:t>Based</a:t>
            </a:r>
            <a:r>
              <a:rPr lang="pt-BR" dirty="0"/>
              <a:t> - CDC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9DA0528E-40B6-6C4C-83A3-2F5FA2AA02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327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 - Seleção por </a:t>
            </a:r>
            <a:r>
              <a:rPr lang="pt-BR" sz="3550" dirty="0" err="1"/>
              <a:t>timestamps</a:t>
            </a:r>
            <a:r>
              <a:rPr lang="pt-BR" sz="3550" dirty="0"/>
              <a:t> mais recentes que o último marco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Baixo impacto e implementação direta </a:t>
            </a:r>
            <a:br>
              <a:rPr lang="pt-BR" sz="3550" dirty="0"/>
            </a:br>
            <a:endParaRPr lang="pt-BR" sz="3550" dirty="0"/>
          </a:p>
          <a:p>
            <a:pPr indent="0"/>
            <a:r>
              <a:rPr lang="pt-BR" sz="3550" dirty="0"/>
              <a:t>- Requer sincronização de relógios/fusos e disciplina nos updates</a:t>
            </a:r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pt-BR"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B0C18819-88A3-202F-D232-07465A7971AD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4963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1F1A480D-F14E-78B9-D424-DEA37C78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1342663C-69B1-4AC9-ECEF-8C92E14F78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 err="1"/>
              <a:t>Timestamp</a:t>
            </a:r>
            <a:r>
              <a:rPr lang="pt-BR" dirty="0"/>
              <a:t> </a:t>
            </a:r>
            <a:r>
              <a:rPr lang="pt-BR" dirty="0" err="1"/>
              <a:t>Based</a:t>
            </a:r>
            <a:r>
              <a:rPr lang="pt-BR" dirty="0"/>
              <a:t> - CDC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55250678-1F91-26E3-C67E-D2CAFEF506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546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DD3BCCAC-F41E-AFDF-08AD-3B312BBB9E29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43AE9C9-8927-D54D-BDE9-8C593C685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06" y="2952719"/>
            <a:ext cx="13129129" cy="410628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44CFECF-24B8-556F-ED51-748E87DD3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53" y="2174796"/>
            <a:ext cx="14202991" cy="528115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A5FA147-7745-F86C-074C-860598D8BA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31" y="2174796"/>
            <a:ext cx="15310988" cy="629414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3CB978C-0ACF-2ED3-BEDF-AE9A585BE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1930245"/>
            <a:ext cx="15696206" cy="710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688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FD27112A-2EE9-97A1-7936-9466E2885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0F2524E0-9FE8-4D99-17A2-81A47F2D8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Quando usar/Cautelas ? 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82ED0C54-AFE8-323D-6776-35FEA8E888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4370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Fonte mantém </a:t>
            </a:r>
            <a:r>
              <a:rPr lang="pt-BR" sz="3550" dirty="0" err="1"/>
              <a:t>updated_at</a:t>
            </a:r>
            <a:r>
              <a:rPr lang="pt-BR" sz="3550" dirty="0"/>
              <a:t> confiável e monotônico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Requisitos de impacto mínimo e implementação direta 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Janelas de coleta periódicas bem definidas/Desalinhamento de relógios e fuso/</a:t>
            </a:r>
            <a:r>
              <a:rPr lang="pt-BR" sz="3550" dirty="0" err="1"/>
              <a:t>precision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Índice por </a:t>
            </a:r>
            <a:r>
              <a:rPr lang="pt-BR" sz="3550" dirty="0" err="1"/>
              <a:t>timestamp</a:t>
            </a:r>
            <a:r>
              <a:rPr lang="pt-BR" sz="3550" dirty="0"/>
              <a:t> para evitar full </a:t>
            </a:r>
            <a:r>
              <a:rPr lang="pt-BR" sz="3550" dirty="0" err="1"/>
              <a:t>scans</a:t>
            </a:r>
            <a:endParaRPr lang="pt-BR"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C920BA84-8727-A4D4-90DB-F399B280C41D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2611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D912F081-748E-6583-3A75-90A88C391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7ECACA5A-9F21-C895-FA61-3AF8F54FA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 err="1"/>
              <a:t>Pooling</a:t>
            </a:r>
            <a:r>
              <a:rPr lang="pt-BR" dirty="0"/>
              <a:t> </a:t>
            </a:r>
            <a:r>
              <a:rPr lang="pt-BR" dirty="0" err="1"/>
              <a:t>Based</a:t>
            </a:r>
            <a:r>
              <a:rPr lang="pt-BR" dirty="0"/>
              <a:t> - CDC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E95CB148-DE38-7A92-625A-0432619C7B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327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 - Varreduras periódicas para detectar 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Flexível em ambientes legados</a:t>
            </a:r>
            <a:br>
              <a:rPr lang="pt-BR" sz="3550" dirty="0"/>
            </a:br>
            <a:endParaRPr lang="pt-BR" sz="3550" dirty="0"/>
          </a:p>
          <a:p>
            <a:pPr indent="0"/>
            <a:r>
              <a:rPr lang="pt-BR" sz="3550" dirty="0"/>
              <a:t>- Aceita maior latência para reduzir </a:t>
            </a:r>
            <a:r>
              <a:rPr lang="pt-BR" sz="3550" dirty="0" err="1"/>
              <a:t>intrusividade</a:t>
            </a:r>
            <a:endParaRPr lang="pt-BR" sz="3550" dirty="0"/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pt-BR"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40EF7EA8-D3E5-9436-7C03-AD4DD7A8E870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9344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B500A864-B8A3-48FF-96D8-4FF08A6A6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9343BEF9-0F68-07EC-F568-E6C1734BF1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 err="1"/>
              <a:t>Pooling</a:t>
            </a:r>
            <a:r>
              <a:rPr lang="pt-BR" dirty="0"/>
              <a:t> </a:t>
            </a:r>
            <a:r>
              <a:rPr lang="pt-BR" dirty="0" err="1"/>
              <a:t>Based</a:t>
            </a:r>
            <a:r>
              <a:rPr lang="pt-BR" dirty="0"/>
              <a:t> - CDC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68E79FD4-CB5C-99B9-B0C9-2767D8AB3E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546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D1CA45E3-F1F2-BFDD-9AE5-EA6FDD454AA8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C3CE105-0098-B8BC-2095-2168B7881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06" y="2952719"/>
            <a:ext cx="13129129" cy="410628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274F161-4D9D-DC2C-E5C7-5B3C741C6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53" y="2174796"/>
            <a:ext cx="14202991" cy="528115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EBE8F58-1FB8-1CBE-D05B-EB6A8018A4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31" y="2174796"/>
            <a:ext cx="15310988" cy="629414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21B07BC-E97A-F0C0-A220-97C46CA296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1930245"/>
            <a:ext cx="15696206" cy="710116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320184D-3E6C-1124-231A-820D4885EC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7978" y="2174795"/>
            <a:ext cx="15696206" cy="710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697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84875532-D77E-BBB3-61B8-F42D8BDBF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04D0C4FD-8A6C-4B15-712A-200F218A87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Quando usar/Cautelas ? 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849FF2FC-EC2B-4966-B058-16CED4FC2A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4370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Acesso apenas por consulta periódica (ex.: APIs/integrações legadas)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Restrições que impedem métodos mais sofisticados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Estratégia para deleções (soft delete, </a:t>
            </a:r>
            <a:r>
              <a:rPr lang="pt-BR" sz="3550" dirty="0" err="1"/>
              <a:t>tombstones</a:t>
            </a:r>
            <a:r>
              <a:rPr lang="pt-BR" sz="3550" dirty="0"/>
              <a:t>, listas de </a:t>
            </a:r>
            <a:r>
              <a:rPr lang="pt-BR" sz="3550" dirty="0" err="1"/>
              <a:t>IDs</a:t>
            </a:r>
            <a:r>
              <a:rPr lang="pt-BR" sz="3550" dirty="0"/>
              <a:t>)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</a:t>
            </a:r>
            <a:r>
              <a:rPr lang="pt-BR" sz="3550" dirty="0" err="1"/>
              <a:t>Checkpointing</a:t>
            </a:r>
            <a:r>
              <a:rPr lang="pt-BR" sz="3550" dirty="0"/>
              <a:t> confiável para evitar lacunas e duplicidades</a:t>
            </a:r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B20FEE9A-BFF1-18CD-C96C-07FFBD523E19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05129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4C0E29AC-E74E-0BF3-A758-3D8869547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F3662905-7035-62C2-02B5-BC0DDB3E9F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Snapshot </a:t>
            </a:r>
            <a:r>
              <a:rPr lang="pt-BR" dirty="0" err="1"/>
              <a:t>Differentials</a:t>
            </a:r>
            <a:r>
              <a:rPr lang="pt-BR" dirty="0"/>
              <a:t> - CDC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BF2C170E-A3E1-0B78-EA65-AD2E1588E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327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 - Compara fotografias completas do banco em instantes distintos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Aplicável a fontes sem rastreamento nativo</a:t>
            </a:r>
            <a:br>
              <a:rPr lang="pt-BR" sz="3550" dirty="0"/>
            </a:br>
            <a:endParaRPr lang="pt-BR" sz="3550" dirty="0"/>
          </a:p>
          <a:p>
            <a:pPr indent="0"/>
            <a:r>
              <a:rPr lang="pt-BR" sz="3550" dirty="0"/>
              <a:t>- Custo alto de leitura/armazenamento; latência por janelas</a:t>
            </a:r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pt-BR"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8C708289-6F22-6FBC-0182-D5C11FDCF580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8945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87AB7673-D081-8AC5-142D-94E551F77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3BD67A3D-595B-8019-A761-2B844E2DB9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Snapshot </a:t>
            </a:r>
            <a:r>
              <a:rPr lang="pt-BR" dirty="0" err="1"/>
              <a:t>Differentials</a:t>
            </a:r>
            <a:r>
              <a:rPr lang="pt-BR" dirty="0"/>
              <a:t> - CDC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0A220B90-01CF-2893-A6FB-018DADDFF6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546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EC5BACC5-4ECB-2211-4347-3F646F2871DD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FEE2688-AE55-FCB2-F3BA-EC21ECA77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06" y="2952719"/>
            <a:ext cx="13129129" cy="410628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F481EED-DFAA-D1CF-0DC8-AFA5BD0D0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53" y="2174796"/>
            <a:ext cx="14202991" cy="528115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B305526-8024-0FE7-788A-97A6257680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31" y="2174796"/>
            <a:ext cx="15310988" cy="629414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BD6D4F3-EB4A-D89B-EBDD-C4626296F5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1930245"/>
            <a:ext cx="15696206" cy="710116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9089D66-05C5-53CD-A31E-9441EE3E98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7978" y="2174795"/>
            <a:ext cx="15696206" cy="710116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DF37231-803F-0267-866B-DB86A5BECE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7979" y="2305046"/>
            <a:ext cx="15696206" cy="725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449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52C89FD7-8E3C-5BD9-976F-7CD7A2DE1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72639A76-48E6-65CB-428E-5076DAE98B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Quando usar/Cautelas ? 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1DA9E493-FE02-C646-4BFE-CE34F17BA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2215704"/>
            <a:ext cx="14805000" cy="710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Fontes sem suporte nativo a logs, auditoria ou gatilhos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Ambientes legados e arquivos planos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Custo alto de leitura, comparação e armazenamento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Necessidade de chaves primárias estáveis para </a:t>
            </a:r>
            <a:r>
              <a:rPr lang="pt-BR" sz="3550" dirty="0" err="1"/>
              <a:t>diffs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</a:t>
            </a:r>
            <a:r>
              <a:rPr lang="pt-BR" sz="3550" dirty="0" err="1"/>
              <a:t>Hashing</a:t>
            </a:r>
            <a:r>
              <a:rPr lang="pt-BR" sz="3550" dirty="0"/>
              <a:t> por linha/partição para reduzir custo de comparação 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Agendamento fora do horário de pico e retenção de snapshots</a:t>
            </a:r>
            <a:br>
              <a:rPr lang="pt-BR" sz="3550" dirty="0"/>
            </a:br>
            <a:br>
              <a:rPr lang="pt-BR" sz="3550" dirty="0"/>
            </a:br>
            <a:endParaRPr lang="pt-BR"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0CCE9D29-12EE-142F-558E-D58EF0C2CA79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857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0F445368-5B73-47EA-94DF-CFE79269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>
            <a:extLst>
              <a:ext uri="{FF2B5EF4-FFF2-40B4-BE49-F238E27FC236}">
                <a16:creationId xmlns:a16="http://schemas.microsoft.com/office/drawing/2014/main" id="{6D3E237C-D9D7-7537-DEA7-2354C7CE0C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Comparativo</a:t>
            </a:r>
            <a:endParaRPr dirty="0"/>
          </a:p>
        </p:txBody>
      </p:sp>
      <p:sp>
        <p:nvSpPr>
          <p:cNvPr id="182" name="Google Shape;182;g39ec3f94586_0_0">
            <a:extLst>
              <a:ext uri="{FF2B5EF4-FFF2-40B4-BE49-F238E27FC236}">
                <a16:creationId xmlns:a16="http://schemas.microsoft.com/office/drawing/2014/main" id="{C890D63A-70A2-449C-06B6-B33A6EAB2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2215704"/>
            <a:ext cx="14805000" cy="1638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pt-BR" sz="3550" dirty="0"/>
            </a:br>
            <a:br>
              <a:rPr lang="pt-BR" sz="3550" dirty="0"/>
            </a:br>
            <a:endParaRPr lang="pt-BR" sz="3550" dirty="0"/>
          </a:p>
        </p:txBody>
      </p:sp>
      <p:sp>
        <p:nvSpPr>
          <p:cNvPr id="183" name="Google Shape;183;g39ec3f94586_0_0">
            <a:extLst>
              <a:ext uri="{FF2B5EF4-FFF2-40B4-BE49-F238E27FC236}">
                <a16:creationId xmlns:a16="http://schemas.microsoft.com/office/drawing/2014/main" id="{116B9113-4BE4-2549-C318-A7A41B9DB23E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8AD0489-01ED-64D1-72EA-5FF08DC48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31060"/>
              </p:ext>
            </p:extLst>
          </p:nvPr>
        </p:nvGraphicFramePr>
        <p:xfrm>
          <a:off x="0" y="2416980"/>
          <a:ext cx="15696205" cy="6917519"/>
        </p:xfrm>
        <a:graphic>
          <a:graphicData uri="http://schemas.openxmlformats.org/drawingml/2006/table">
            <a:tbl>
              <a:tblPr firstRow="1" bandRow="1">
                <a:tableStyleId>{2A98D115-0EA8-40FB-8D74-A8F8687DD90F}</a:tableStyleId>
              </a:tblPr>
              <a:tblGrid>
                <a:gridCol w="2242315">
                  <a:extLst>
                    <a:ext uri="{9D8B030D-6E8A-4147-A177-3AD203B41FA5}">
                      <a16:colId xmlns:a16="http://schemas.microsoft.com/office/drawing/2014/main" val="3276293623"/>
                    </a:ext>
                  </a:extLst>
                </a:gridCol>
                <a:gridCol w="2029434">
                  <a:extLst>
                    <a:ext uri="{9D8B030D-6E8A-4147-A177-3AD203B41FA5}">
                      <a16:colId xmlns:a16="http://schemas.microsoft.com/office/drawing/2014/main" val="645208428"/>
                    </a:ext>
                  </a:extLst>
                </a:gridCol>
                <a:gridCol w="2455196">
                  <a:extLst>
                    <a:ext uri="{9D8B030D-6E8A-4147-A177-3AD203B41FA5}">
                      <a16:colId xmlns:a16="http://schemas.microsoft.com/office/drawing/2014/main" val="89940306"/>
                    </a:ext>
                  </a:extLst>
                </a:gridCol>
                <a:gridCol w="2242315">
                  <a:extLst>
                    <a:ext uri="{9D8B030D-6E8A-4147-A177-3AD203B41FA5}">
                      <a16:colId xmlns:a16="http://schemas.microsoft.com/office/drawing/2014/main" val="1072473183"/>
                    </a:ext>
                  </a:extLst>
                </a:gridCol>
                <a:gridCol w="2112722">
                  <a:extLst>
                    <a:ext uri="{9D8B030D-6E8A-4147-A177-3AD203B41FA5}">
                      <a16:colId xmlns:a16="http://schemas.microsoft.com/office/drawing/2014/main" val="632478600"/>
                    </a:ext>
                  </a:extLst>
                </a:gridCol>
                <a:gridCol w="2371908">
                  <a:extLst>
                    <a:ext uri="{9D8B030D-6E8A-4147-A177-3AD203B41FA5}">
                      <a16:colId xmlns:a16="http://schemas.microsoft.com/office/drawing/2014/main" val="2033701308"/>
                    </a:ext>
                  </a:extLst>
                </a:gridCol>
                <a:gridCol w="2242315">
                  <a:extLst>
                    <a:ext uri="{9D8B030D-6E8A-4147-A177-3AD203B41FA5}">
                      <a16:colId xmlns:a16="http://schemas.microsoft.com/office/drawing/2014/main" val="2728494583"/>
                    </a:ext>
                  </a:extLst>
                </a:gridCol>
              </a:tblGrid>
              <a:tr h="1261660">
                <a:tc>
                  <a:txBody>
                    <a:bodyPr/>
                    <a:lstStyle/>
                    <a:p>
                      <a:r>
                        <a:rPr lang="pt-BR" sz="2400" dirty="0"/>
                        <a:t>Critério</a:t>
                      </a:r>
                    </a:p>
                  </a:txBody>
                  <a:tcPr anchor="ctr">
                    <a:solidFill>
                      <a:srgbClr val="3333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 dirty="0"/>
                        <a:t>Log-</a:t>
                      </a:r>
                      <a:r>
                        <a:rPr lang="pt-BR" sz="2400" dirty="0" err="1"/>
                        <a:t>based</a:t>
                      </a:r>
                      <a:endParaRPr lang="pt-BR" sz="2400" dirty="0"/>
                    </a:p>
                  </a:txBody>
                  <a:tcPr anchor="ctr">
                    <a:solidFill>
                      <a:srgbClr val="3333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 dirty="0" err="1"/>
                        <a:t>Audit</a:t>
                      </a:r>
                      <a:r>
                        <a:rPr lang="pt-BR" sz="2400" dirty="0"/>
                        <a:t> </a:t>
                      </a:r>
                      <a:r>
                        <a:rPr lang="pt-BR" sz="2400" dirty="0" err="1"/>
                        <a:t>Columns</a:t>
                      </a:r>
                      <a:endParaRPr lang="pt-BR" sz="2400" dirty="0"/>
                    </a:p>
                  </a:txBody>
                  <a:tcPr anchor="ctr">
                    <a:solidFill>
                      <a:srgbClr val="3333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Snapshot Differentials</a:t>
                      </a:r>
                    </a:p>
                  </a:txBody>
                  <a:tcPr anchor="ctr">
                    <a:solidFill>
                      <a:srgbClr val="3333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Trigger-based</a:t>
                      </a:r>
                    </a:p>
                  </a:txBody>
                  <a:tcPr anchor="ctr">
                    <a:solidFill>
                      <a:srgbClr val="3333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Timestamp-based</a:t>
                      </a:r>
                    </a:p>
                  </a:txBody>
                  <a:tcPr anchor="ctr">
                    <a:solidFill>
                      <a:srgbClr val="3333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 dirty="0" err="1"/>
                        <a:t>Polling-based</a:t>
                      </a:r>
                      <a:endParaRPr lang="pt-BR" sz="2400" dirty="0"/>
                    </a:p>
                  </a:txBody>
                  <a:tcPr anchor="ctr">
                    <a:solidFill>
                      <a:srgbClr val="33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967723"/>
                  </a:ext>
                </a:extLst>
              </a:tr>
              <a:tr h="1326635">
                <a:tc>
                  <a:txBody>
                    <a:bodyPr/>
                    <a:lstStyle/>
                    <a:p>
                      <a:r>
                        <a:rPr lang="pt-BR" sz="2400" b="1" dirty="0"/>
                        <a:t>Atualização em Tempo Real</a:t>
                      </a:r>
                      <a:endParaRPr lang="pt-BR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 dirty="0"/>
                        <a:t>Sim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 dirty="0"/>
                        <a:t>Não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 dirty="0"/>
                        <a:t>Não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 dirty="0"/>
                        <a:t>Sim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 dirty="0"/>
                        <a:t>Não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 dirty="0"/>
                        <a:t>Não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197925"/>
                  </a:ext>
                </a:extLst>
              </a:tr>
              <a:tr h="1261660">
                <a:tc>
                  <a:txBody>
                    <a:bodyPr/>
                    <a:lstStyle/>
                    <a:p>
                      <a:r>
                        <a:rPr lang="pt-BR" sz="2400" b="1"/>
                        <a:t>Impacto no Desempenho</a:t>
                      </a:r>
                      <a:endParaRPr lang="pt-BR" sz="24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Médio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Baixo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Alto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Alto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Baixo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 dirty="0"/>
                        <a:t>Médio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748990"/>
                  </a:ext>
                </a:extLst>
              </a:tr>
              <a:tr h="902952">
                <a:tc>
                  <a:txBody>
                    <a:bodyPr/>
                    <a:lstStyle/>
                    <a:p>
                      <a:r>
                        <a:rPr lang="pt-BR" sz="2400" b="1"/>
                        <a:t>Complexidade</a:t>
                      </a:r>
                      <a:endParaRPr lang="pt-BR" sz="24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Alta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Baixa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Média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Alta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Baixa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 dirty="0"/>
                        <a:t>Baixa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488771"/>
                  </a:ext>
                </a:extLst>
              </a:tr>
              <a:tr h="1261660">
                <a:tc>
                  <a:txBody>
                    <a:bodyPr/>
                    <a:lstStyle/>
                    <a:p>
                      <a:r>
                        <a:rPr lang="pt-BR" sz="2400" b="1"/>
                        <a:t>Detecção de Exclusões</a:t>
                      </a:r>
                      <a:endParaRPr lang="pt-BR" sz="24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Sim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Não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Sim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Sim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Desafiador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 dirty="0"/>
                        <a:t>Desafiador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539394"/>
                  </a:ext>
                </a:extLst>
              </a:tr>
              <a:tr h="902952">
                <a:tc>
                  <a:txBody>
                    <a:bodyPr/>
                    <a:lstStyle/>
                    <a:p>
                      <a:r>
                        <a:rPr lang="pt-BR" sz="2400" b="1"/>
                        <a:t>Granularidade</a:t>
                      </a:r>
                      <a:endParaRPr lang="pt-BR" sz="24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Alta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Média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Baixa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Alta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/>
                        <a:t>Média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400" dirty="0"/>
                        <a:t>Baixa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69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1795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f1ac3b1e7_1_218"/>
          <p:cNvSpPr txBox="1">
            <a:spLocks noGrp="1"/>
          </p:cNvSpPr>
          <p:nvPr>
            <p:ph type="ctrTitle" idx="4294967295"/>
          </p:nvPr>
        </p:nvSpPr>
        <p:spPr>
          <a:xfrm>
            <a:off x="4147340" y="3126801"/>
            <a:ext cx="1096073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7200" dirty="0">
                <a:solidFill>
                  <a:schemeClr val="lt1"/>
                </a:solidFill>
              </a:rPr>
              <a:t>Fundamentação Teórica</a:t>
            </a:r>
            <a:endParaRPr sz="8000" b="1" i="0" u="none" strike="noStrike" cap="none" dirty="0">
              <a:solidFill>
                <a:srgbClr val="1220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9f1ac3b1e7_1_218"/>
          <p:cNvSpPr/>
          <p:nvPr/>
        </p:nvSpPr>
        <p:spPr>
          <a:xfrm>
            <a:off x="935478" y="10085432"/>
            <a:ext cx="752475" cy="7801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DFF1F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ec3f94586_0_0"/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Por que microsserviços para engenharia de dados ?</a:t>
            </a:r>
            <a:endParaRPr dirty="0"/>
          </a:p>
        </p:txBody>
      </p:sp>
      <p:sp>
        <p:nvSpPr>
          <p:cNvPr id="182" name="Google Shape;182;g39ec3f94586_0_0"/>
          <p:cNvSpPr txBox="1">
            <a:spLocks noGrp="1"/>
          </p:cNvSpPr>
          <p:nvPr>
            <p:ph type="body" idx="1"/>
          </p:nvPr>
        </p:nvSpPr>
        <p:spPr>
          <a:xfrm>
            <a:off x="891206" y="3323700"/>
            <a:ext cx="14805000" cy="60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Ferramentas base construídas com essa arquitetura</a:t>
            </a:r>
            <a:br>
              <a:rPr lang="pt-BR" sz="3550" dirty="0"/>
            </a:br>
            <a:r>
              <a:rPr lang="pt-BR" sz="3550" dirty="0"/>
              <a:t> </a:t>
            </a:r>
            <a:endParaRPr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Integração de dados</a:t>
            </a:r>
            <a:br>
              <a:rPr lang="pt-BR" sz="3550" dirty="0"/>
            </a:br>
            <a:endParaRPr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Integração de sistemas (CRM, ERP, SAAS, </a:t>
            </a:r>
            <a:r>
              <a:rPr lang="pt-BR" sz="3550" dirty="0" err="1"/>
              <a:t>etc</a:t>
            </a:r>
            <a:r>
              <a:rPr lang="pt-BR" sz="3550" dirty="0"/>
              <a:t>)</a:t>
            </a:r>
            <a:br>
              <a:rPr lang="pt-BR" sz="3550" dirty="0"/>
            </a:br>
            <a:endParaRPr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ETL, ELT, Reverse ETL</a:t>
            </a:r>
            <a:br>
              <a:rPr lang="pt-BR" sz="3550" dirty="0"/>
            </a:br>
            <a:endParaRPr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Produtos combinam APIs, eventos e </a:t>
            </a:r>
            <a:r>
              <a:rPr lang="pt-BR" sz="3550" dirty="0" err="1"/>
              <a:t>jobs</a:t>
            </a:r>
            <a:r>
              <a:rPr lang="pt-BR" sz="3550" dirty="0"/>
              <a:t> coordenados</a:t>
            </a:r>
            <a:br>
              <a:rPr lang="pt-BR" sz="3550" dirty="0"/>
            </a:br>
            <a:endParaRPr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Feitos para escala</a:t>
            </a:r>
            <a:endParaRPr sz="3550" dirty="0"/>
          </a:p>
        </p:txBody>
      </p:sp>
      <p:sp>
        <p:nvSpPr>
          <p:cNvPr id="183" name="Google Shape;183;g39ec3f94586_0_0"/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f1ac3b1e7_1_1"/>
          <p:cNvSpPr txBox="1">
            <a:spLocks noGrp="1"/>
          </p:cNvSpPr>
          <p:nvPr>
            <p:ph type="title"/>
          </p:nvPr>
        </p:nvSpPr>
        <p:spPr>
          <a:xfrm>
            <a:off x="2452312" y="454551"/>
            <a:ext cx="1480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Airbyte - Conceitos Básicos</a:t>
            </a:r>
            <a:endParaRPr/>
          </a:p>
        </p:txBody>
      </p:sp>
      <p:sp>
        <p:nvSpPr>
          <p:cNvPr id="191" name="Google Shape;191;g39f1ac3b1e7_1_1"/>
          <p:cNvSpPr txBox="1">
            <a:spLocks noGrp="1"/>
          </p:cNvSpPr>
          <p:nvPr>
            <p:ph type="body" idx="1"/>
          </p:nvPr>
        </p:nvSpPr>
        <p:spPr>
          <a:xfrm>
            <a:off x="891206" y="2060496"/>
            <a:ext cx="14805000" cy="60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/>
              <a:t>- Source Connector: Base de dados fonte </a:t>
            </a:r>
            <a:br>
              <a:rPr lang="pt-BR" sz="3550"/>
            </a:br>
            <a:endParaRPr sz="355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/>
              <a:t>- Destination Connector: Base de dados Destino</a:t>
            </a:r>
            <a:br>
              <a:rPr lang="pt-BR" sz="3550"/>
            </a:br>
            <a:endParaRPr sz="355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/>
              <a:t>- Connection: Mapeamento da fonte -&gt; Destino</a:t>
            </a:r>
            <a:endParaRPr sz="355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55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/>
              <a:t>- Schedule</a:t>
            </a:r>
            <a:br>
              <a:rPr lang="pt-BR" sz="3550"/>
            </a:br>
            <a:endParaRPr sz="355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/>
              <a:t>- Uma das ferramentas padrão da comunidade para ingestão</a:t>
            </a:r>
            <a:br>
              <a:rPr lang="pt-BR" sz="3550"/>
            </a:br>
            <a:endParaRPr sz="355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/>
              <a:t>- Deploy (CLI/Kubernetes) - Docker compose deprecado</a:t>
            </a:r>
            <a:endParaRPr sz="3550"/>
          </a:p>
        </p:txBody>
      </p:sp>
      <p:sp>
        <p:nvSpPr>
          <p:cNvPr id="192" name="Google Shape;192;g39f1ac3b1e7_1_1"/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39f1ac3b1e7_1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11363" y="8505000"/>
            <a:ext cx="1538549" cy="153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9f1ac3b1e7_1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32888" y="8038596"/>
            <a:ext cx="209550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65D7E24-92C8-8B55-1C86-A4591F816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62746"/>
            <a:ext cx="19693719" cy="3349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0EE3EB2-A9E2-5B00-AE3E-39B908EFE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5589"/>
            <a:ext cx="19693718" cy="3537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A4D38AC-F19D-EAA3-C0EC-8953122E5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5144"/>
            <a:ext cx="19693718" cy="3460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1ac3b1e7_1_9"/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Conceitos Centrais</a:t>
            </a:r>
            <a:endParaRPr dirty="0"/>
          </a:p>
        </p:txBody>
      </p:sp>
      <p:sp>
        <p:nvSpPr>
          <p:cNvPr id="200" name="Google Shape;200;g39f1ac3b1e7_1_9"/>
          <p:cNvSpPr txBox="1">
            <a:spLocks noGrp="1"/>
          </p:cNvSpPr>
          <p:nvPr>
            <p:ph type="body" idx="1"/>
          </p:nvPr>
        </p:nvSpPr>
        <p:spPr>
          <a:xfrm>
            <a:off x="891206" y="2060496"/>
            <a:ext cx="14805000" cy="600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Microsserviço (definição): unidade pequena e autônoma, alinhada a uma capacidade de negócio, com </a:t>
            </a:r>
            <a:r>
              <a:rPr lang="pt-BR" sz="3550" dirty="0" err="1"/>
              <a:t>deploy</a:t>
            </a:r>
            <a:r>
              <a:rPr lang="pt-BR" sz="3550" dirty="0"/>
              <a:t> independente e dados sob sua responsabilidade. </a:t>
            </a: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pt-BR" sz="3550" dirty="0"/>
            </a:br>
            <a:r>
              <a:rPr lang="pt-BR" sz="3550" dirty="0"/>
              <a:t>- Monólito (definição): aplicação coesa com </a:t>
            </a:r>
            <a:r>
              <a:rPr lang="pt-BR" sz="3550" dirty="0" err="1"/>
              <a:t>deploy</a:t>
            </a:r>
            <a:r>
              <a:rPr lang="pt-BR" sz="3550" dirty="0"/>
              <a:t> único e fronteira transacional única; menor custo inicial, maior acoplamento com o tempo. </a:t>
            </a: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pt-BR" sz="3550" dirty="0"/>
            </a:br>
            <a:r>
              <a:rPr lang="pt-BR" sz="3550" dirty="0"/>
              <a:t>- Critério de corte: mudanças que sempre ocorrem juntas tendem a pertencer ao mesmo serviço.</a:t>
            </a:r>
            <a:endParaRPr sz="355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550" dirty="0"/>
          </a:p>
        </p:txBody>
      </p:sp>
      <p:sp>
        <p:nvSpPr>
          <p:cNvPr id="201" name="Google Shape;201;g39f1ac3b1e7_1_9"/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D5DF4BA1-4FD1-9427-7314-EF254E6FE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1ac3b1e7_1_9">
            <a:extLst>
              <a:ext uri="{FF2B5EF4-FFF2-40B4-BE49-F238E27FC236}">
                <a16:creationId xmlns:a16="http://schemas.microsoft.com/office/drawing/2014/main" id="{34C84AB4-039E-B4FC-13E5-13FE852066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Monólitos</a:t>
            </a:r>
            <a:endParaRPr dirty="0"/>
          </a:p>
        </p:txBody>
      </p:sp>
      <p:sp>
        <p:nvSpPr>
          <p:cNvPr id="200" name="Google Shape;200;g39f1ac3b1e7_1_9">
            <a:extLst>
              <a:ext uri="{FF2B5EF4-FFF2-40B4-BE49-F238E27FC236}">
                <a16:creationId xmlns:a16="http://schemas.microsoft.com/office/drawing/2014/main" id="{4E05AD2F-16B0-1E83-52C9-EBA0D52A88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2060496"/>
            <a:ext cx="14805000" cy="4370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Aplicação única, fronteira transacional única, ciclo de </a:t>
            </a:r>
            <a:r>
              <a:rPr lang="pt-BR" sz="3550" dirty="0" err="1"/>
              <a:t>deploy</a:t>
            </a:r>
            <a:r>
              <a:rPr lang="pt-BR" sz="3550" dirty="0"/>
              <a:t> unificado. </a:t>
            </a:r>
            <a:br>
              <a:rPr lang="pt-BR" sz="3550" dirty="0"/>
            </a:br>
            <a:endParaRPr lang="pt-BR"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Vantagens: simplicidade operacional inicial, debug local direto, transações amplas. 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Riscos ao escalar: aumento de acoplamento, ciclos de release longos, barreiras à autonomia de times.</a:t>
            </a:r>
            <a:endParaRPr sz="3550" dirty="0"/>
          </a:p>
        </p:txBody>
      </p:sp>
      <p:sp>
        <p:nvSpPr>
          <p:cNvPr id="201" name="Google Shape;201;g39f1ac3b1e7_1_9">
            <a:extLst>
              <a:ext uri="{FF2B5EF4-FFF2-40B4-BE49-F238E27FC236}">
                <a16:creationId xmlns:a16="http://schemas.microsoft.com/office/drawing/2014/main" id="{0E342BFA-5A0A-4CBC-DDAC-53C2B572FCCB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5131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DA9DC084-5C98-FE6D-304C-9C752CA9A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1ac3b1e7_1_9">
            <a:extLst>
              <a:ext uri="{FF2B5EF4-FFF2-40B4-BE49-F238E27FC236}">
                <a16:creationId xmlns:a16="http://schemas.microsoft.com/office/drawing/2014/main" id="{61153BCD-9E51-1F89-912C-1C850FDAFD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Tipos de Monólitos</a:t>
            </a:r>
            <a:endParaRPr dirty="0"/>
          </a:p>
        </p:txBody>
      </p:sp>
      <p:sp>
        <p:nvSpPr>
          <p:cNvPr id="200" name="Google Shape;200;g39f1ac3b1e7_1_9">
            <a:extLst>
              <a:ext uri="{FF2B5EF4-FFF2-40B4-BE49-F238E27FC236}">
                <a16:creationId xmlns:a16="http://schemas.microsoft.com/office/drawing/2014/main" id="{B0674B18-D7F0-470A-D2B4-E5D851395C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2060496"/>
            <a:ext cx="14805000" cy="4916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Monólito de processo único — aplicação e </a:t>
            </a:r>
            <a:r>
              <a:rPr lang="pt-BR" sz="3550" dirty="0" err="1"/>
              <a:t>deploy</a:t>
            </a:r>
            <a:r>
              <a:rPr lang="pt-BR" sz="3550" dirty="0"/>
              <a:t> únicos </a:t>
            </a:r>
            <a:br>
              <a:rPr lang="pt-BR" sz="3550" dirty="0"/>
            </a:br>
            <a:endParaRPr lang="pt-BR" sz="3550" dirty="0"/>
          </a:p>
          <a:p>
            <a:pPr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pt-BR" sz="3550" dirty="0"/>
              <a:t>- Monólito modular — módulos bem definidos, </a:t>
            </a:r>
            <a:r>
              <a:rPr lang="pt-BR" sz="3550" dirty="0" err="1"/>
              <a:t>deploy</a:t>
            </a:r>
            <a:r>
              <a:rPr lang="pt-BR" sz="3550" dirty="0"/>
              <a:t> único 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Monólito distribuído (</a:t>
            </a:r>
            <a:r>
              <a:rPr lang="pt-BR" sz="3550" dirty="0" err="1"/>
              <a:t>antipadrão</a:t>
            </a:r>
            <a:r>
              <a:rPr lang="pt-BR" sz="3550" dirty="0"/>
              <a:t>) — “vários serviços”, acoplados e </a:t>
            </a:r>
            <a:r>
              <a:rPr lang="pt-BR" sz="3550" dirty="0" err="1"/>
              <a:t>versionados</a:t>
            </a:r>
            <a:r>
              <a:rPr lang="pt-BR" sz="3550" dirty="0"/>
              <a:t> juntos</a:t>
            </a:r>
            <a:br>
              <a:rPr lang="pt-BR" sz="3550" dirty="0"/>
            </a:br>
            <a:endParaRPr lang="pt-BR" sz="3550" dirty="0"/>
          </a:p>
          <a:p>
            <a:pPr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pt-BR" sz="3550" dirty="0"/>
              <a:t>- Monólito de terceiros — ERP/CRM/SaaS como “caixa-preta”, integra por contratos</a:t>
            </a:r>
          </a:p>
        </p:txBody>
      </p:sp>
      <p:sp>
        <p:nvSpPr>
          <p:cNvPr id="201" name="Google Shape;201;g39f1ac3b1e7_1_9">
            <a:extLst>
              <a:ext uri="{FF2B5EF4-FFF2-40B4-BE49-F238E27FC236}">
                <a16:creationId xmlns:a16="http://schemas.microsoft.com/office/drawing/2014/main" id="{308F9B60-2DF8-237F-D4C7-7C5AE2DAA06A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84786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86DECFA0-9A05-CA0B-3D87-DE533610D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1ac3b1e7_1_9">
            <a:extLst>
              <a:ext uri="{FF2B5EF4-FFF2-40B4-BE49-F238E27FC236}">
                <a16:creationId xmlns:a16="http://schemas.microsoft.com/office/drawing/2014/main" id="{947A9390-91FA-4B7C-0DD5-BCAA03E519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Tipos de Monólitos</a:t>
            </a:r>
            <a:endParaRPr dirty="0"/>
          </a:p>
        </p:txBody>
      </p:sp>
      <p:sp>
        <p:nvSpPr>
          <p:cNvPr id="200" name="Google Shape;200;g39f1ac3b1e7_1_9">
            <a:extLst>
              <a:ext uri="{FF2B5EF4-FFF2-40B4-BE49-F238E27FC236}">
                <a16:creationId xmlns:a16="http://schemas.microsoft.com/office/drawing/2014/main" id="{2372DAA5-28A1-D141-5B88-FD700B3C25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2060496"/>
            <a:ext cx="14805000" cy="4916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Monólito de processo único — aplicação e </a:t>
            </a:r>
            <a:r>
              <a:rPr lang="pt-BR" sz="3550" dirty="0" err="1"/>
              <a:t>deploy</a:t>
            </a:r>
            <a:r>
              <a:rPr lang="pt-BR" sz="3550" dirty="0"/>
              <a:t> únicos </a:t>
            </a:r>
            <a:br>
              <a:rPr lang="pt-BR" sz="3550" dirty="0"/>
            </a:br>
            <a:endParaRPr lang="pt-BR" sz="3550" dirty="0"/>
          </a:p>
          <a:p>
            <a:pPr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pt-BR" sz="3550" dirty="0"/>
              <a:t>- Monólito modular — módulos bem definidos, </a:t>
            </a:r>
            <a:r>
              <a:rPr lang="pt-BR" sz="3550" dirty="0" err="1"/>
              <a:t>deploy</a:t>
            </a:r>
            <a:r>
              <a:rPr lang="pt-BR" sz="3550" dirty="0"/>
              <a:t> único 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Monólito distribuído (</a:t>
            </a:r>
            <a:r>
              <a:rPr lang="pt-BR" sz="3550" dirty="0" err="1"/>
              <a:t>antipadrão</a:t>
            </a:r>
            <a:r>
              <a:rPr lang="pt-BR" sz="3550" dirty="0"/>
              <a:t>) — “vários serviços”, acoplados e </a:t>
            </a:r>
            <a:r>
              <a:rPr lang="pt-BR" sz="3550" dirty="0" err="1"/>
              <a:t>versionados</a:t>
            </a:r>
            <a:r>
              <a:rPr lang="pt-BR" sz="3550" dirty="0"/>
              <a:t> juntos</a:t>
            </a:r>
            <a:br>
              <a:rPr lang="pt-BR" sz="3550" dirty="0"/>
            </a:br>
            <a:endParaRPr lang="pt-BR" sz="3550" dirty="0"/>
          </a:p>
          <a:p>
            <a:pPr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pt-BR" sz="3550" dirty="0"/>
              <a:t>- Monólito de terceiros — ERP/CRM/SaaS como “caixa-preta”, integra por contratos</a:t>
            </a:r>
          </a:p>
        </p:txBody>
      </p:sp>
      <p:sp>
        <p:nvSpPr>
          <p:cNvPr id="201" name="Google Shape;201;g39f1ac3b1e7_1_9">
            <a:extLst>
              <a:ext uri="{FF2B5EF4-FFF2-40B4-BE49-F238E27FC236}">
                <a16:creationId xmlns:a16="http://schemas.microsoft.com/office/drawing/2014/main" id="{014D654A-D819-6B80-C66A-89133CBD7BA8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66DC809-E47C-D09D-C217-9F73F8FD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66424" cy="10385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71727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844E8616-8C10-590F-17CB-343A35F5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1ac3b1e7_1_9">
            <a:extLst>
              <a:ext uri="{FF2B5EF4-FFF2-40B4-BE49-F238E27FC236}">
                <a16:creationId xmlns:a16="http://schemas.microsoft.com/office/drawing/2014/main" id="{ED2FE95E-1327-CE7E-4559-BEC5D9F3A7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Quando manter o Monólito</a:t>
            </a:r>
            <a:endParaRPr dirty="0"/>
          </a:p>
        </p:txBody>
      </p:sp>
      <p:sp>
        <p:nvSpPr>
          <p:cNvPr id="200" name="Google Shape;200;g39f1ac3b1e7_1_9">
            <a:extLst>
              <a:ext uri="{FF2B5EF4-FFF2-40B4-BE49-F238E27FC236}">
                <a16:creationId xmlns:a16="http://schemas.microsoft.com/office/drawing/2014/main" id="{27DB22C9-FD20-60C5-1830-BEA1DD1BBB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2060496"/>
            <a:ext cx="14805000" cy="4916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Domínio estável, equipe pequena, baixa taxa de mudança </a:t>
            </a:r>
            <a:br>
              <a:rPr lang="pt-BR" sz="3550" dirty="0"/>
            </a:br>
            <a:endParaRPr lang="pt-BR" sz="3550" dirty="0"/>
          </a:p>
          <a:p>
            <a:pPr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pt-BR" sz="3550" dirty="0"/>
              <a:t>- Exigência de transações amplas com baixa tolerância à consistência eventual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Domínio estável, equipe pequena, baixa taxa de mudança. Exigência de transações amplas com baixa tolerância à consistência eventual. Janela de operação limitada para plataforma e </a:t>
            </a:r>
            <a:r>
              <a:rPr lang="pt-BR" sz="3550" dirty="0" err="1"/>
              <a:t>observabilidade</a:t>
            </a:r>
            <a:r>
              <a:rPr lang="pt-BR" sz="3550" dirty="0"/>
              <a:t>.</a:t>
            </a:r>
          </a:p>
        </p:txBody>
      </p:sp>
      <p:sp>
        <p:nvSpPr>
          <p:cNvPr id="201" name="Google Shape;201;g39f1ac3b1e7_1_9">
            <a:extLst>
              <a:ext uri="{FF2B5EF4-FFF2-40B4-BE49-F238E27FC236}">
                <a16:creationId xmlns:a16="http://schemas.microsoft.com/office/drawing/2014/main" id="{B405FD85-46CE-94FD-9DDD-658E76BAD859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83577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838F4B32-89CD-CDAA-D45F-83368E331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1ac3b1e7_1_9">
            <a:extLst>
              <a:ext uri="{FF2B5EF4-FFF2-40B4-BE49-F238E27FC236}">
                <a16:creationId xmlns:a16="http://schemas.microsoft.com/office/drawing/2014/main" id="{BC278461-B825-2D69-06B0-6BB2C68670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Caso Prime </a:t>
            </a:r>
            <a:r>
              <a:rPr lang="pt-BR" dirty="0" err="1"/>
              <a:t>Video</a:t>
            </a:r>
            <a:r>
              <a:rPr lang="pt-BR" dirty="0"/>
              <a:t> - Vídeo</a:t>
            </a:r>
            <a:endParaRPr dirty="0"/>
          </a:p>
        </p:txBody>
      </p:sp>
      <p:sp>
        <p:nvSpPr>
          <p:cNvPr id="200" name="Google Shape;200;g39f1ac3b1e7_1_9">
            <a:extLst>
              <a:ext uri="{FF2B5EF4-FFF2-40B4-BE49-F238E27FC236}">
                <a16:creationId xmlns:a16="http://schemas.microsoft.com/office/drawing/2014/main" id="{C85F6303-07DF-6432-805B-F515772F20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2060496"/>
            <a:ext cx="14805000" cy="546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pt-BR" sz="3550" dirty="0"/>
          </a:p>
        </p:txBody>
      </p:sp>
      <p:sp>
        <p:nvSpPr>
          <p:cNvPr id="201" name="Google Shape;201;g39f1ac3b1e7_1_9">
            <a:extLst>
              <a:ext uri="{FF2B5EF4-FFF2-40B4-BE49-F238E27FC236}">
                <a16:creationId xmlns:a16="http://schemas.microsoft.com/office/drawing/2014/main" id="{FC773986-2CF4-5193-47AA-3A694F95AE80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Mídia Online 1" title="Back to Monolithic App?  | Prime Video Case Study | Microservices to Monolith | Tech Primers">
            <a:hlinkClick r:id="" action="ppaction://media"/>
            <a:extLst>
              <a:ext uri="{FF2B5EF4-FFF2-40B4-BE49-F238E27FC236}">
                <a16:creationId xmlns:a16="http://schemas.microsoft.com/office/drawing/2014/main" id="{DBFDBAD4-FB82-A1C8-D574-2E59B43D3CC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891206" y="2333647"/>
            <a:ext cx="14805000" cy="722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75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838F4B32-89CD-CDAA-D45F-83368E331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1ac3b1e7_1_9">
            <a:extLst>
              <a:ext uri="{FF2B5EF4-FFF2-40B4-BE49-F238E27FC236}">
                <a16:creationId xmlns:a16="http://schemas.microsoft.com/office/drawing/2014/main" id="{BC278461-B825-2D69-06B0-6BB2C68670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Caso Prime </a:t>
            </a:r>
            <a:r>
              <a:rPr lang="pt-BR" dirty="0" err="1"/>
              <a:t>Video</a:t>
            </a:r>
            <a:r>
              <a:rPr lang="pt-BR" dirty="0"/>
              <a:t> - Artigo</a:t>
            </a:r>
            <a:endParaRPr dirty="0"/>
          </a:p>
        </p:txBody>
      </p:sp>
      <p:sp>
        <p:nvSpPr>
          <p:cNvPr id="200" name="Google Shape;200;g39f1ac3b1e7_1_9">
            <a:extLst>
              <a:ext uri="{FF2B5EF4-FFF2-40B4-BE49-F238E27FC236}">
                <a16:creationId xmlns:a16="http://schemas.microsoft.com/office/drawing/2014/main" id="{C85F6303-07DF-6432-805B-F515772F20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2060496"/>
            <a:ext cx="14805000" cy="1092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https://www.wudsn.com/productions/www/site/news/2023/2023-05-08-microservices-01.pdf</a:t>
            </a:r>
          </a:p>
        </p:txBody>
      </p:sp>
      <p:sp>
        <p:nvSpPr>
          <p:cNvPr id="201" name="Google Shape;201;g39f1ac3b1e7_1_9">
            <a:extLst>
              <a:ext uri="{FF2B5EF4-FFF2-40B4-BE49-F238E27FC236}">
                <a16:creationId xmlns:a16="http://schemas.microsoft.com/office/drawing/2014/main" id="{FC773986-2CF4-5193-47AA-3A694F95AE80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0293182-4CCC-B834-7E4A-2773383D9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477" y="3357349"/>
            <a:ext cx="14757730" cy="620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1882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43850B94-775F-5CCC-4FDE-3A5998A10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1ac3b1e7_1_9">
            <a:extLst>
              <a:ext uri="{FF2B5EF4-FFF2-40B4-BE49-F238E27FC236}">
                <a16:creationId xmlns:a16="http://schemas.microsoft.com/office/drawing/2014/main" id="{ECB52DD1-D2CE-847B-48CF-C7158B843A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Microsserviços</a:t>
            </a:r>
            <a:endParaRPr dirty="0"/>
          </a:p>
        </p:txBody>
      </p:sp>
      <p:sp>
        <p:nvSpPr>
          <p:cNvPr id="200" name="Google Shape;200;g39f1ac3b1e7_1_9">
            <a:extLst>
              <a:ext uri="{FF2B5EF4-FFF2-40B4-BE49-F238E27FC236}">
                <a16:creationId xmlns:a16="http://schemas.microsoft.com/office/drawing/2014/main" id="{F1399CF7-C92A-5F18-0FB2-DCBCF51639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2060496"/>
            <a:ext cx="14805000" cy="4370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Serviço pequeno e autônomo, alinhado a uma capacidade de negócio ou Atividade fixa pré-definida</a:t>
            </a:r>
            <a:br>
              <a:rPr lang="pt-BR" sz="3550" dirty="0"/>
            </a:br>
            <a:endParaRPr lang="pt-BR"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</a:t>
            </a:r>
            <a:r>
              <a:rPr lang="pt-BR" sz="3550" dirty="0" err="1"/>
              <a:t>Deploy</a:t>
            </a:r>
            <a:r>
              <a:rPr lang="pt-BR" sz="3550" dirty="0"/>
              <a:t> independente, dados sob responsabilidade do serviço, em banco de dados único.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Comunicação leve: síncrona (REST/</a:t>
            </a:r>
            <a:r>
              <a:rPr lang="pt-BR" sz="3550" dirty="0" err="1"/>
              <a:t>gRPC</a:t>
            </a:r>
            <a:r>
              <a:rPr lang="pt-BR" sz="3550" dirty="0"/>
              <a:t>) e assíncrona (eventos em Kafka, etc...)</a:t>
            </a:r>
            <a:endParaRPr sz="3550" dirty="0"/>
          </a:p>
        </p:txBody>
      </p:sp>
      <p:sp>
        <p:nvSpPr>
          <p:cNvPr id="201" name="Google Shape;201;g39f1ac3b1e7_1_9">
            <a:extLst>
              <a:ext uri="{FF2B5EF4-FFF2-40B4-BE49-F238E27FC236}">
                <a16:creationId xmlns:a16="http://schemas.microsoft.com/office/drawing/2014/main" id="{ABB9661C-398E-536B-4E7C-987FD5017962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21441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8ADD82B1-6CEA-46EE-8BFC-AD872894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1ac3b1e7_1_9">
            <a:extLst>
              <a:ext uri="{FF2B5EF4-FFF2-40B4-BE49-F238E27FC236}">
                <a16:creationId xmlns:a16="http://schemas.microsoft.com/office/drawing/2014/main" id="{8790FE72-B0CF-F917-ECC5-4085FB2B31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Características de Microsserviços</a:t>
            </a:r>
            <a:endParaRPr dirty="0"/>
          </a:p>
        </p:txBody>
      </p:sp>
      <p:sp>
        <p:nvSpPr>
          <p:cNvPr id="200" name="Google Shape;200;g39f1ac3b1e7_1_9">
            <a:extLst>
              <a:ext uri="{FF2B5EF4-FFF2-40B4-BE49-F238E27FC236}">
                <a16:creationId xmlns:a16="http://schemas.microsoft.com/office/drawing/2014/main" id="{9320F6D6-E135-253E-C9A4-1CF135A634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2060496"/>
            <a:ext cx="14805000" cy="327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</a:t>
            </a:r>
            <a:r>
              <a:rPr lang="pt-BR" sz="3550" dirty="0" err="1"/>
              <a:t>Deploy</a:t>
            </a:r>
            <a:r>
              <a:rPr lang="pt-BR" sz="3550" dirty="0"/>
              <a:t> independente por capacidade de negócio</a:t>
            </a:r>
            <a:br>
              <a:rPr lang="pt-BR" sz="3550" dirty="0"/>
            </a:br>
            <a:endParaRPr lang="pt-BR"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</a:t>
            </a:r>
            <a:r>
              <a:rPr lang="pt-BR" sz="3550" dirty="0" err="1"/>
              <a:t>Deploy</a:t>
            </a:r>
            <a:r>
              <a:rPr lang="pt-BR" sz="3550" dirty="0"/>
              <a:t> independente, dados sob responsabilidade do serviço, em banco de dados único.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Automação: CI/CD, </a:t>
            </a:r>
            <a:r>
              <a:rPr lang="pt-BR" sz="3550" dirty="0" err="1"/>
              <a:t>rollback</a:t>
            </a:r>
            <a:r>
              <a:rPr lang="pt-BR" sz="3550" dirty="0"/>
              <a:t> e feature flags</a:t>
            </a:r>
          </a:p>
        </p:txBody>
      </p:sp>
      <p:sp>
        <p:nvSpPr>
          <p:cNvPr id="201" name="Google Shape;201;g39f1ac3b1e7_1_9">
            <a:extLst>
              <a:ext uri="{FF2B5EF4-FFF2-40B4-BE49-F238E27FC236}">
                <a16:creationId xmlns:a16="http://schemas.microsoft.com/office/drawing/2014/main" id="{080E6DDC-3DD2-FBB5-442D-4D6A39BC9B08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07569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A579B3DD-8005-3365-092B-FD789CD33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1ac3b1e7_1_9">
            <a:extLst>
              <a:ext uri="{FF2B5EF4-FFF2-40B4-BE49-F238E27FC236}">
                <a16:creationId xmlns:a16="http://schemas.microsoft.com/office/drawing/2014/main" id="{2315E5B4-F47A-8F03-26A7-A7F2AEE87D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Vantagens</a:t>
            </a:r>
            <a:endParaRPr dirty="0"/>
          </a:p>
        </p:txBody>
      </p:sp>
      <p:sp>
        <p:nvSpPr>
          <p:cNvPr id="200" name="Google Shape;200;g39f1ac3b1e7_1_9">
            <a:extLst>
              <a:ext uri="{FF2B5EF4-FFF2-40B4-BE49-F238E27FC236}">
                <a16:creationId xmlns:a16="http://schemas.microsoft.com/office/drawing/2014/main" id="{D6AFB805-CFD9-A17A-BCF1-314FA59AB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2060496"/>
            <a:ext cx="14805000" cy="327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</a:t>
            </a:r>
            <a:r>
              <a:rPr lang="pt-BR" sz="3550" dirty="0" err="1"/>
              <a:t>Deploy</a:t>
            </a:r>
            <a:r>
              <a:rPr lang="pt-BR" sz="3550" dirty="0"/>
              <a:t> independente por capacidade de negócio</a:t>
            </a:r>
            <a:br>
              <a:rPr lang="pt-BR" sz="3550" dirty="0"/>
            </a:br>
            <a:endParaRPr lang="pt-BR"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</a:t>
            </a:r>
            <a:r>
              <a:rPr lang="pt-BR" sz="3550" dirty="0" err="1"/>
              <a:t>Deploy</a:t>
            </a:r>
            <a:r>
              <a:rPr lang="pt-BR" sz="3550" dirty="0"/>
              <a:t> independente, dados sob responsabilidade do serviço, em banco de dados único.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Automação: CI/CD, </a:t>
            </a:r>
            <a:r>
              <a:rPr lang="pt-BR" sz="3550" dirty="0" err="1"/>
              <a:t>rollback</a:t>
            </a:r>
            <a:r>
              <a:rPr lang="pt-BR" sz="3550" dirty="0"/>
              <a:t> e feature flags</a:t>
            </a:r>
          </a:p>
        </p:txBody>
      </p:sp>
      <p:sp>
        <p:nvSpPr>
          <p:cNvPr id="201" name="Google Shape;201;g39f1ac3b1e7_1_9">
            <a:extLst>
              <a:ext uri="{FF2B5EF4-FFF2-40B4-BE49-F238E27FC236}">
                <a16:creationId xmlns:a16="http://schemas.microsoft.com/office/drawing/2014/main" id="{E653B93E-8396-6774-FA79-EFD509C40096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96167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53B0C300-9B60-8CE3-C6B6-4D40E807A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1ac3b1e7_1_9">
            <a:extLst>
              <a:ext uri="{FF2B5EF4-FFF2-40B4-BE49-F238E27FC236}">
                <a16:creationId xmlns:a16="http://schemas.microsoft.com/office/drawing/2014/main" id="{2CF5A40F-E850-D561-7326-68244A0223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Desafios</a:t>
            </a:r>
            <a:endParaRPr dirty="0"/>
          </a:p>
        </p:txBody>
      </p:sp>
      <p:sp>
        <p:nvSpPr>
          <p:cNvPr id="200" name="Google Shape;200;g39f1ac3b1e7_1_9">
            <a:extLst>
              <a:ext uri="{FF2B5EF4-FFF2-40B4-BE49-F238E27FC236}">
                <a16:creationId xmlns:a16="http://schemas.microsoft.com/office/drawing/2014/main" id="{BB8F0F23-B039-E35F-14E2-B82571EAAE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2060496"/>
            <a:ext cx="14805000" cy="4916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Operação e coordenação distribuída</a:t>
            </a:r>
            <a:br>
              <a:rPr lang="pt-BR" sz="3550" dirty="0"/>
            </a:br>
            <a:endParaRPr lang="pt-BR"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Operacionalizar a escala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</a:t>
            </a:r>
            <a:r>
              <a:rPr lang="pt-BR" sz="3550" dirty="0" err="1"/>
              <a:t>Observabilidade</a:t>
            </a:r>
            <a:r>
              <a:rPr lang="pt-BR" sz="3550" dirty="0"/>
              <a:t> e monitoramento</a:t>
            </a:r>
            <a:br>
              <a:rPr lang="pt-BR" sz="3550" dirty="0"/>
            </a:br>
            <a:endParaRPr lang="pt-BR"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Consistência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Service Discovery e redes</a:t>
            </a:r>
          </a:p>
        </p:txBody>
      </p:sp>
      <p:sp>
        <p:nvSpPr>
          <p:cNvPr id="201" name="Google Shape;201;g39f1ac3b1e7_1_9">
            <a:extLst>
              <a:ext uri="{FF2B5EF4-FFF2-40B4-BE49-F238E27FC236}">
                <a16:creationId xmlns:a16="http://schemas.microsoft.com/office/drawing/2014/main" id="{5C8EA35A-6FB3-984D-7283-1C6A709AF1F2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73446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1D3D59BD-765A-F3EA-8236-FC13062F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1ac3b1e7_1_9">
            <a:extLst>
              <a:ext uri="{FF2B5EF4-FFF2-40B4-BE49-F238E27FC236}">
                <a16:creationId xmlns:a16="http://schemas.microsoft.com/office/drawing/2014/main" id="{C354469C-DA18-3700-1355-EB86E25DBE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Desafios</a:t>
            </a:r>
            <a:endParaRPr dirty="0"/>
          </a:p>
        </p:txBody>
      </p:sp>
      <p:sp>
        <p:nvSpPr>
          <p:cNvPr id="200" name="Google Shape;200;g39f1ac3b1e7_1_9">
            <a:extLst>
              <a:ext uri="{FF2B5EF4-FFF2-40B4-BE49-F238E27FC236}">
                <a16:creationId xmlns:a16="http://schemas.microsoft.com/office/drawing/2014/main" id="{93EDDB42-F0D4-6F93-0645-33D9328DA1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2060496"/>
            <a:ext cx="14805000" cy="4916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Operação e coordenação distribuída</a:t>
            </a:r>
            <a:br>
              <a:rPr lang="pt-BR" sz="3550" dirty="0"/>
            </a:br>
            <a:endParaRPr lang="pt-BR"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Operacionalizar a escala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</a:t>
            </a:r>
            <a:r>
              <a:rPr lang="pt-BR" sz="3550" dirty="0" err="1"/>
              <a:t>Observabilidade</a:t>
            </a:r>
            <a:r>
              <a:rPr lang="pt-BR" sz="3550" dirty="0"/>
              <a:t> e monitoramento</a:t>
            </a:r>
            <a:br>
              <a:rPr lang="pt-BR" sz="3550" dirty="0"/>
            </a:br>
            <a:endParaRPr lang="pt-BR"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Consistência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Service Discovery e redes</a:t>
            </a:r>
          </a:p>
        </p:txBody>
      </p:sp>
      <p:sp>
        <p:nvSpPr>
          <p:cNvPr id="201" name="Google Shape;201;g39f1ac3b1e7_1_9">
            <a:extLst>
              <a:ext uri="{FF2B5EF4-FFF2-40B4-BE49-F238E27FC236}">
                <a16:creationId xmlns:a16="http://schemas.microsoft.com/office/drawing/2014/main" id="{2D182E34-4AF3-8F04-32FF-B6543624D824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B6551FF-6CE2-21B7-1FE9-8B6236695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639" y="0"/>
            <a:ext cx="9485194" cy="10287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9019EEC-EA5D-9343-FDB1-2B6D2839C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263116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9959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D5BBE531-A8C9-E4DF-E79F-4D3F8023E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1ac3b1e7_1_9">
            <a:extLst>
              <a:ext uri="{FF2B5EF4-FFF2-40B4-BE49-F238E27FC236}">
                <a16:creationId xmlns:a16="http://schemas.microsoft.com/office/drawing/2014/main" id="{B19025B2-8509-6371-ACD6-33C380B30C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Arquitetura de Microsserviços </a:t>
            </a:r>
            <a:endParaRPr dirty="0"/>
          </a:p>
        </p:txBody>
      </p:sp>
      <p:sp>
        <p:nvSpPr>
          <p:cNvPr id="200" name="Google Shape;200;g39f1ac3b1e7_1_9">
            <a:extLst>
              <a:ext uri="{FF2B5EF4-FFF2-40B4-BE49-F238E27FC236}">
                <a16:creationId xmlns:a16="http://schemas.microsoft.com/office/drawing/2014/main" id="{F32CA899-4094-F2EB-7B35-6EA682ED83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2060496"/>
            <a:ext cx="14805000" cy="710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Padrões para a conexão e estruturação </a:t>
            </a: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pt-BR" sz="3550" dirty="0"/>
            </a:br>
            <a:r>
              <a:rPr lang="pt-BR" sz="3550" dirty="0"/>
              <a:t>- Operacionalizar a escala e coordenação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Operacionalizar comunicação </a:t>
            </a:r>
            <a:br>
              <a:rPr lang="pt-BR" sz="3550" dirty="0"/>
            </a:br>
            <a:endParaRPr lang="pt-BR"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Service Discovery</a:t>
            </a: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pt-BR" sz="3550" dirty="0"/>
            </a:br>
            <a:r>
              <a:rPr lang="pt-BR" sz="3550" dirty="0"/>
              <a:t>- API Gateway</a:t>
            </a:r>
            <a:br>
              <a:rPr lang="pt-BR" sz="3550" dirty="0"/>
            </a:br>
            <a:endParaRPr lang="pt-BR" sz="35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Sidecar e Service </a:t>
            </a:r>
            <a:r>
              <a:rPr lang="pt-BR" sz="3550" dirty="0" err="1"/>
              <a:t>mesh</a:t>
            </a:r>
            <a:r>
              <a:rPr lang="pt-BR" sz="3550" dirty="0"/>
              <a:t> </a:t>
            </a: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pt-BR" sz="3550" dirty="0"/>
            </a:br>
            <a:r>
              <a:rPr lang="pt-BR" sz="3550" dirty="0"/>
              <a:t>- Circuit </a:t>
            </a:r>
            <a:r>
              <a:rPr lang="pt-BR" sz="3550" dirty="0" err="1"/>
              <a:t>Breaker</a:t>
            </a:r>
            <a:endParaRPr lang="pt-BR" sz="3550" dirty="0"/>
          </a:p>
        </p:txBody>
      </p:sp>
      <p:sp>
        <p:nvSpPr>
          <p:cNvPr id="201" name="Google Shape;201;g39f1ac3b1e7_1_9">
            <a:extLst>
              <a:ext uri="{FF2B5EF4-FFF2-40B4-BE49-F238E27FC236}">
                <a16:creationId xmlns:a16="http://schemas.microsoft.com/office/drawing/2014/main" id="{AF772273-C181-90E6-4FB4-DE7F64AE63F3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94362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CDC90B09-7522-B969-BD49-F6983D4B3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1ac3b1e7_1_9">
            <a:extLst>
              <a:ext uri="{FF2B5EF4-FFF2-40B4-BE49-F238E27FC236}">
                <a16:creationId xmlns:a16="http://schemas.microsoft.com/office/drawing/2014/main" id="{A70B1E55-FE6A-4D90-34EF-9114AD6122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206" y="952500"/>
            <a:ext cx="1480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Arquitetura de Microsserviços </a:t>
            </a:r>
            <a:endParaRPr dirty="0"/>
          </a:p>
        </p:txBody>
      </p:sp>
      <p:sp>
        <p:nvSpPr>
          <p:cNvPr id="200" name="Google Shape;200;g39f1ac3b1e7_1_9">
            <a:extLst>
              <a:ext uri="{FF2B5EF4-FFF2-40B4-BE49-F238E27FC236}">
                <a16:creationId xmlns:a16="http://schemas.microsoft.com/office/drawing/2014/main" id="{4F088D1E-8791-A5E8-0442-12831C7DD2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206" y="2060496"/>
            <a:ext cx="14805000" cy="4370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550" dirty="0"/>
              <a:t>- Event </a:t>
            </a:r>
            <a:r>
              <a:rPr lang="pt-BR" sz="3550" dirty="0" err="1"/>
              <a:t>Sourcing</a:t>
            </a:r>
            <a:r>
              <a:rPr lang="pt-BR" sz="3550" dirty="0"/>
              <a:t>  </a:t>
            </a: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pt-BR" sz="3550" dirty="0"/>
            </a:br>
            <a:r>
              <a:rPr lang="pt-BR" sz="3550" dirty="0"/>
              <a:t>- CQRS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Domain Data </a:t>
            </a:r>
            <a:r>
              <a:rPr lang="pt-BR" sz="3550" dirty="0" err="1"/>
              <a:t>Driven</a:t>
            </a:r>
            <a:r>
              <a:rPr lang="pt-BR" sz="3550" dirty="0"/>
              <a:t> Design</a:t>
            </a:r>
            <a:br>
              <a:rPr lang="pt-BR" sz="3550" dirty="0"/>
            </a:br>
            <a:br>
              <a:rPr lang="pt-BR" sz="3550" dirty="0"/>
            </a:br>
            <a:r>
              <a:rPr lang="pt-BR" sz="3550" dirty="0"/>
              <a:t>- Event-</a:t>
            </a:r>
            <a:r>
              <a:rPr lang="pt-BR" sz="3550" dirty="0" err="1"/>
              <a:t>Driven</a:t>
            </a:r>
            <a:br>
              <a:rPr lang="pt-BR" sz="3550" dirty="0"/>
            </a:br>
            <a:endParaRPr lang="pt-BR" sz="3550" dirty="0"/>
          </a:p>
        </p:txBody>
      </p:sp>
      <p:sp>
        <p:nvSpPr>
          <p:cNvPr id="201" name="Google Shape;201;g39f1ac3b1e7_1_9">
            <a:extLst>
              <a:ext uri="{FF2B5EF4-FFF2-40B4-BE49-F238E27FC236}">
                <a16:creationId xmlns:a16="http://schemas.microsoft.com/office/drawing/2014/main" id="{138275B3-4FC5-8EA8-678B-A621524440E4}"/>
              </a:ext>
            </a:extLst>
          </p:cNvPr>
          <p:cNvSpPr/>
          <p:nvPr/>
        </p:nvSpPr>
        <p:spPr>
          <a:xfrm>
            <a:off x="938476" y="723900"/>
            <a:ext cx="752475" cy="11430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12208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24498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f1ac3b1e7_1_38"/>
          <p:cNvSpPr txBox="1">
            <a:spLocks noGrp="1"/>
          </p:cNvSpPr>
          <p:nvPr>
            <p:ph type="ctrTitle" idx="4294967295"/>
          </p:nvPr>
        </p:nvSpPr>
        <p:spPr>
          <a:xfrm>
            <a:off x="4147340" y="3126801"/>
            <a:ext cx="9993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7200">
                <a:solidFill>
                  <a:schemeClr val="lt1"/>
                </a:solidFill>
              </a:rPr>
              <a:t>Demo !</a:t>
            </a:r>
            <a:endParaRPr sz="8000" b="1" i="0" u="none" strike="noStrike" cap="none">
              <a:solidFill>
                <a:srgbClr val="1220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9f1ac3b1e7_1_38"/>
          <p:cNvSpPr txBox="1">
            <a:spLocks noGrp="1"/>
          </p:cNvSpPr>
          <p:nvPr>
            <p:ph type="subTitle" idx="4294967295"/>
          </p:nvPr>
        </p:nvSpPr>
        <p:spPr>
          <a:xfrm>
            <a:off x="6177212" y="5789921"/>
            <a:ext cx="59337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>
                <a:solidFill>
                  <a:schemeClr val="lt1"/>
                </a:solidFill>
              </a:rPr>
              <a:t>Setup Kafka + UI</a:t>
            </a:r>
            <a:endParaRPr sz="3050" b="1" i="0" u="none" strike="noStrike" cap="none" dirty="0">
              <a:solidFill>
                <a:srgbClr val="1220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9f1ac3b1e7_1_38"/>
          <p:cNvSpPr/>
          <p:nvPr/>
        </p:nvSpPr>
        <p:spPr>
          <a:xfrm>
            <a:off x="935478" y="10085432"/>
            <a:ext cx="752475" cy="78010"/>
          </a:xfrm>
          <a:custGeom>
            <a:avLst/>
            <a:gdLst/>
            <a:ahLst/>
            <a:cxnLst/>
            <a:rect l="l" t="t" r="r" b="b"/>
            <a:pathLst>
              <a:path w="752475" h="114300" extrusionOk="0">
                <a:moveTo>
                  <a:pt x="752474" y="114299"/>
                </a:moveTo>
                <a:lnTo>
                  <a:pt x="0" y="114299"/>
                </a:lnTo>
                <a:lnTo>
                  <a:pt x="0" y="0"/>
                </a:lnTo>
                <a:lnTo>
                  <a:pt x="752474" y="0"/>
                </a:lnTo>
                <a:lnTo>
                  <a:pt x="752474" y="114299"/>
                </a:lnTo>
                <a:close/>
              </a:path>
            </a:pathLst>
          </a:custGeom>
          <a:solidFill>
            <a:srgbClr val="DFF1F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erde-azulado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1566</Words>
  <Application>Microsoft Office PowerPoint</Application>
  <PresentationFormat>Personalizar</PresentationFormat>
  <Paragraphs>202</Paragraphs>
  <Slides>48</Slides>
  <Notes>47</Notes>
  <HiddenSlides>0</HiddenSlides>
  <MMClips>1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0" baseType="lpstr">
      <vt:lpstr>Arial</vt:lpstr>
      <vt:lpstr>Office Theme</vt:lpstr>
      <vt:lpstr>Aula 01 </vt:lpstr>
      <vt:lpstr>Agenda Arq Microsserviços </vt:lpstr>
      <vt:lpstr>Agenda Dia 01 </vt:lpstr>
      <vt:lpstr>Referências &amp; Repo </vt:lpstr>
      <vt:lpstr>Principais projetos</vt:lpstr>
      <vt:lpstr>Arquitetura CDC</vt:lpstr>
      <vt:lpstr>Trabalho + Teoria CDC</vt:lpstr>
      <vt:lpstr>Trabalho</vt:lpstr>
      <vt:lpstr>Trabalho – Avaliação e entrega</vt:lpstr>
      <vt:lpstr>Trabalho – Avaliação e entrega</vt:lpstr>
      <vt:lpstr>CDC – Change Data Capture</vt:lpstr>
      <vt:lpstr>Log Based - CDC</vt:lpstr>
      <vt:lpstr>Log Based - CDC</vt:lpstr>
      <vt:lpstr>Quando usar/ Cautelas ? </vt:lpstr>
      <vt:lpstr>Trigger Based - CDC</vt:lpstr>
      <vt:lpstr>Trigger Based - CDC</vt:lpstr>
      <vt:lpstr>Quando usar/Cautelas ? </vt:lpstr>
      <vt:lpstr>Audit Columns- CDC</vt:lpstr>
      <vt:lpstr>Audit Columns - CDC</vt:lpstr>
      <vt:lpstr>Quando usar/Cautelas ? </vt:lpstr>
      <vt:lpstr>Timestamp Based - CDC</vt:lpstr>
      <vt:lpstr>Timestamp Based - CDC</vt:lpstr>
      <vt:lpstr>Quando usar/Cautelas ? </vt:lpstr>
      <vt:lpstr>Pooling Based - CDC</vt:lpstr>
      <vt:lpstr>Pooling Based - CDC</vt:lpstr>
      <vt:lpstr>Quando usar/Cautelas ? </vt:lpstr>
      <vt:lpstr>Snapshot Differentials - CDC</vt:lpstr>
      <vt:lpstr>Snapshot Differentials - CDC</vt:lpstr>
      <vt:lpstr>Quando usar/Cautelas ? </vt:lpstr>
      <vt:lpstr>Comparativo</vt:lpstr>
      <vt:lpstr>Fundamentação Teórica</vt:lpstr>
      <vt:lpstr>Por que microsserviços para engenharia de dados ?</vt:lpstr>
      <vt:lpstr>Airbyte - Conceitos Básicos</vt:lpstr>
      <vt:lpstr>Conceitos Centrais</vt:lpstr>
      <vt:lpstr>Monólitos</vt:lpstr>
      <vt:lpstr>Tipos de Monólitos</vt:lpstr>
      <vt:lpstr>Tipos de Monólitos</vt:lpstr>
      <vt:lpstr>Quando manter o Monólito</vt:lpstr>
      <vt:lpstr>Caso Prime Video - Vídeo</vt:lpstr>
      <vt:lpstr>Caso Prime Video - Artigo</vt:lpstr>
      <vt:lpstr>Microsserviços</vt:lpstr>
      <vt:lpstr>Características de Microsserviços</vt:lpstr>
      <vt:lpstr>Vantagens</vt:lpstr>
      <vt:lpstr>Desafios</vt:lpstr>
      <vt:lpstr>Desafios</vt:lpstr>
      <vt:lpstr>Arquitetura de Microsserviços </vt:lpstr>
      <vt:lpstr>Arquitetura de Microsserviços </vt:lpstr>
      <vt:lpstr>Demo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Pós Graduação Saúde</dc:creator>
  <cp:lastModifiedBy>Luan Carvalho De Araujo Coelho</cp:lastModifiedBy>
  <cp:revision>3</cp:revision>
  <dcterms:created xsi:type="dcterms:W3CDTF">2023-05-12T19:05:05Z</dcterms:created>
  <dcterms:modified xsi:type="dcterms:W3CDTF">2025-11-07T18:32:52Z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2023-05-12T00:00:00Z</vt:filetime>
  </property>
  <property fmtid="{D5CDD505-2E9C-101B-9397-08002B2CF9AE}" pid="3" name="Creator">
    <vt:lpwstr>Canva</vt:lpwstr>
  </property>
  <property fmtid="{D5CDD505-2E9C-101B-9397-08002B2CF9AE}" pid="4" name="LastSaved">
    <vt:filetime>2023-05-12T00:00:00Z</vt:filetime>
  </property>
  <property fmtid="{D5CDD505-2E9C-101B-9397-08002B2CF9AE}" pid="5" name="Producer">
    <vt:lpwstr>Canva</vt:lpwstr>
  </property>
</Properties>
</file>